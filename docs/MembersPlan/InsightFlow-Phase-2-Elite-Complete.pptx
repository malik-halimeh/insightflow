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learning claim, not a product pitch: the team learned Nuxt by making architectural choices in a real application.</a:t>
            </a:r>
          </a:p>
          <a:p>
            <a:r>
              <a:t>InsightFlow gives a signed-in owner analytics and recommendations, while selected findings can become public server-rendered insights.</a:t>
            </a:r>
          </a:p>
          <a:p>
            <a:r>
              <a:t>The deck follows the boundaries that changed most from MERN: UI versus framework, rendering, files, validation, reactivity and full-stack flows.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docs/HANDOFF.md</a:t>
            </a:r>
          </a:p>
          <a:p>
            <a:r>
              <a:t>- https://nuxt.com/docs/4.x/getting-started/introduction</a:t>
            </a:r>
          </a:p>
          <a:p>
            <a:r>
              <a:t>- https://vuejs.org/guide/introduction.html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vocabulary reset: Vue is the UI technology; Nuxt is the application framework around it.</a:t>
            </a:r>
          </a:p>
          <a:p>
            <a:r>
              <a:t>The comparison with React and Next.js is directional, not an identity. Each ecosystem has different conventions and trade-offs.</a:t>
            </a:r>
          </a:p>
          <a:p>
            <a:r>
              <a:t>For InsightFlow, Nuxt made routing, route middleware, server handlers and rendering policy part of one codebase.</a:t>
            </a:r>
          </a:p>
          <a:p>
            <a:endParaRPr/>
          </a:p>
          <a:p>
            <a:r>
              <a:t>[Sources]</a:t>
            </a:r>
          </a:p>
          <a:p>
            <a:r>
              <a:t>- https://vuejs.org/guide/introduction.html</a:t>
            </a:r>
          </a:p>
          <a:p>
            <a:r>
              <a:t>- https://nuxt.com/docs/4.x/getting-started/introduction</a:t>
            </a:r>
          </a:p>
          <a:p>
            <a:r>
              <a:t>- https://nextjs.org/docs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routes, not abstract definitions: the landing page is prerendered, the public insight feed is server-rendered and cached, and private owner surfaces are client-rendered.</a:t>
            </a:r>
          </a:p>
          <a:p>
            <a:r>
              <a:t>The choice follows the boundary: public content benefits from HTML and caching; private account-specific content must not enter a shared cache.</a:t>
            </a:r>
          </a:p>
          <a:p>
            <a:r>
              <a:t>The screenshot shows the final routeRules beside the Nuxt 4 app, server and shared folder tree.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nuxt.config.ts</a:t>
            </a:r>
          </a:p>
          <a:p>
            <a:r>
              <a:t>- https://nuxt.com/docs/4.x/guide/concepts/rendering</a:t>
            </a:r>
          </a:p>
          <a:p>
            <a:r>
              <a:t>- https://nuxt.com/docs/4.x/guide/concepts/rendering#hybrid-rendering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most visible Nuxt 4 convention in the project. Most older tutorials show Nuxt 3 paths without app/.</a:t>
            </a:r>
          </a:p>
          <a:p>
            <a:r>
              <a:t>Use the examples to let the audience predict both a page route and an API verb from filenames.</a:t>
            </a:r>
          </a:p>
          <a:p>
            <a:r>
              <a:t>The shared folder is deliberately outside app/ because the same Zod schemas are imported by browser and server code.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docs/HANDOFF.md</a:t>
            </a:r>
          </a:p>
          <a:p>
            <a:r>
              <a:t>- https://nuxt.com/docs/4.x/directory-structure/app</a:t>
            </a:r>
          </a:p>
          <a:p>
            <a:r>
              <a:t>- https://nuxt.com/docs/4.x/guide/directory-structure/server</a:t>
            </a:r>
          </a:p>
          <a:p>
            <a:r>
              <a:t>- https://nuxt.com/docs/4.x/guide/directory-structure/shared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browser form and server route import the same create schema, so validation language cannot drift.</a:t>
            </a:r>
          </a:p>
          <a:p>
            <a:r>
              <a:t>The create schema intentionally omits ownerId, id, rowCount, version pointer and timestamps. Those fields come from the signed session or server.</a:t>
            </a:r>
          </a:p>
          <a:p>
            <a:r>
              <a:t>The screenshot combines three focused code crops: the schema definition, UForm binding and safeParse in the endpoint.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shared/schemas/dataset.ts</a:t>
            </a:r>
          </a:p>
          <a:p>
            <a:r>
              <a:t>- Project source: docs/DESIGN-SYSTEM.md</a:t>
            </a:r>
          </a:p>
          <a:p>
            <a:r>
              <a:t>- https://zod.dev/</a:t>
            </a:r>
          </a:p>
          <a:p>
            <a:r>
              <a:t>- https://ui.nuxt.com/components/form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Trace the user action all the way through the stack. A button-triggered request uses $fetch, not useFetch.</a:t>
            </a:r>
          </a:p>
          <a:p>
            <a:r>
              <a:t>The server checks the session, validates metadata and sales rows, writes MongoDB records, records a version, then the interface refreshes.</a:t>
            </a:r>
          </a:p>
          <a:p>
            <a:r>
              <a:t>Emphasize the return path: the feature is complete only when the owner sees a useful result or a useful error.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docs/HANDOFF.md</a:t>
            </a:r>
          </a:p>
          <a:p>
            <a:r>
              <a:t>- https://nuxt.com/docs/4.x/api/utils/dollarfetch</a:t>
            </a:r>
          </a:p>
          <a:p>
            <a:r>
              <a:t>- https://nuxt.com/docs/4.x/guide/directory-structure/server</a:t>
            </a:r>
          </a:p>
          <a:p>
            <a:r>
              <a:t>- https://www.mongodb.com/docs/drivers/node/current/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 the mental models carefully: Vue tracks which reactive values a computation or template reads, then updates the dependent work when those values change.</a:t>
            </a:r>
          </a:p>
          <a:p>
            <a:r>
              <a:t>Use DatasetSelector as the project evidence: props provide data, defineModel carries selection, and computed derives display items.</a:t>
            </a:r>
          </a:p>
          <a:p>
            <a:r>
              <a:t>Do not claim that Vue never re-renders a component; the point is dependency-tracked reactive updates rather than manually replacing state.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app/components/dashboard/DatasetSelector.vue</a:t>
            </a:r>
          </a:p>
          <a:p>
            <a:r>
              <a:t>- https://vuejs.org/guide/essentials/reactivity-fundamentals.html</a:t>
            </a:r>
          </a:p>
          <a:p>
            <a:r>
              <a:t>- https://vuejs.org/guide/essentials/computed.html</a:t>
            </a:r>
          </a:p>
          <a:p>
            <a:r>
              <a:t>- https://vuejs.org/guide/components/v-model.html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Components are valuable when they encode a stable explanation: formatting, labels, change direction and empty/loading states.</a:t>
            </a:r>
          </a:p>
          <a:p>
            <a:r>
              <a:t>InsightFlow passes typed analytics into reusable components instead of letting each page reinterpret the same response.</a:t>
            </a:r>
          </a:p>
          <a:p>
            <a:r>
              <a:t>Any component that touches a chart library or window must be inside ClientOnly with a skeleton fallback so server rendering remains safe.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docs/DESIGN-SYSTEM.md</a:t>
            </a:r>
          </a:p>
          <a:p>
            <a:r>
              <a:t>- Project source: AGENTS.md</a:t>
            </a:r>
          </a:p>
          <a:p>
            <a:r>
              <a:t>- https://vuejs.org/guide/essentials/component-basics.html</a:t>
            </a:r>
          </a:p>
          <a:p>
            <a:r>
              <a:t>- https://nuxt.com/docs/4.x/api/components/client-only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 narrow. A local ref is easier to reason about than a shared store; computed avoids copying derived state.</a:t>
            </a:r>
          </a:p>
          <a:p>
            <a:r>
              <a:t>defineModel is a component contract for two-way binding, not a global state store.</a:t>
            </a:r>
          </a:p>
          <a:p>
            <a:r>
              <a:t>Nuxt useState is for state shared across components and serialized through SSR hydration. It is not React's local useState hook despite the name.</a:t>
            </a:r>
          </a:p>
          <a:p>
            <a:endParaRPr/>
          </a:p>
          <a:p>
            <a:r>
              <a:t>[Sources]</a:t>
            </a:r>
          </a:p>
          <a:p>
            <a:r>
              <a:t>- https://vuejs.org/api/reactivity-core.html#ref</a:t>
            </a:r>
          </a:p>
          <a:p>
            <a:r>
              <a:t>- https://vuejs.org/api/reactivity-core.html#computed</a:t>
            </a:r>
          </a:p>
          <a:p>
            <a:r>
              <a:t>- https://vuejs.org/guide/components/v-model.html</a:t>
            </a:r>
          </a:p>
          <a:p>
            <a:r>
              <a:t>- https://nuxt.com/docs/4.x/api/composables/use-state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filename establishes the method and route; the handler still has to enforce every security and data boundary.</a:t>
            </a:r>
          </a:p>
          <a:p>
            <a:r>
              <a:t>The endpoint takes owner identity from the signed session, parses the request with the shared create schema, creates a complete record, then writes through the official MongoDB driver.</a:t>
            </a:r>
          </a:p>
          <a:p>
            <a:r>
              <a:t>The screenshot shows the final rules.post code crop. Use the four lines on the right to explain the request lifecycle.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server/api/recommendations/rules.post.ts</a:t>
            </a:r>
          </a:p>
          <a:p>
            <a:r>
              <a:t>- https://nuxt.com/docs/4.x/guide/directory-structure/server</a:t>
            </a:r>
          </a:p>
          <a:p>
            <a:r>
              <a:t>- https://www.mongodb.com/docs/drivers/node/current/usage-examples/insertOne/</a:t>
            </a:r>
          </a:p>
          <a:p>
            <a:r>
              <a:t>- https://zod.dev/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ties Phase 2 to the same full-stack discipline as the upload flow.</a:t>
            </a:r>
          </a:p>
          <a:p>
            <a:r>
              <a:t>Forecasting, version restore and outcome measurement each begin with an owner need, cross a shared contract, run domain logic on the server, and return an explainable state.</a:t>
            </a:r>
          </a:p>
          <a:p>
            <a:r>
              <a:t>Anonymous benchmarks add a public branch, but they still need a contract, server enforcement and an honest empty/suppressed state.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docs/M1-PHASE-2.md</a:t>
            </a:r>
          </a:p>
          <a:p>
            <a:r>
              <a:t>- Project source: docs/MembersPlan/insightflow-phase-2.html</a:t>
            </a:r>
          </a:p>
          <a:p>
            <a:r>
              <a:t>- Project source: server/utils/forecast.ts</a:t>
            </a:r>
          </a:p>
          <a:p>
            <a:r>
              <a:t>- Project source: server/utils/outcomes.ts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comparison balanced. Nuxt and Next.js both provide integrated application frameworks; their biggest practical difference here is the Vue versus React ecosystem and conventions.</a:t>
            </a:r>
          </a:p>
          <a:p>
            <a:r>
              <a:t>A separated SPA and API can be the right choice when services need independent ownership or deployment, but it adds coordination across the boundary.</a:t>
            </a:r>
          </a:p>
          <a:p>
            <a:r>
              <a:t>InsightFlow benefited from one team owning the browser, server endpoints and rendering policy in one Nuxt repository.</a:t>
            </a:r>
          </a:p>
          <a:p>
            <a:endParaRPr/>
          </a:p>
          <a:p>
            <a:r>
              <a:t>[Sources]</a:t>
            </a:r>
          </a:p>
          <a:p>
            <a:r>
              <a:t>- https://nuxt.com/docs/4.x/getting-started/introduction</a:t>
            </a:r>
          </a:p>
          <a:p>
            <a:r>
              <a:t>- https://nextjs.org/docs</a:t>
            </a:r>
          </a:p>
          <a:p>
            <a:r>
              <a:t>- https://vuejs.org/guide/introduction.html</a:t>
            </a:r>
          </a:p>
          <a:p>
            <a:r>
              <a:t>- https://react.dev/learn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Public data is not simply private data with the login removed. The endpoint must expose only published fields and enforce aggregation and suppression.</a:t>
            </a:r>
          </a:p>
          <a:p>
            <a:r>
              <a:t>The Phase 2 benchmark rule is a minimum of five contributors. Enforce it before returning data so the interface cannot bypass privacy.</a:t>
            </a:r>
          </a:p>
          <a:p>
            <a:r>
              <a:t>The screenshot shows the completed benchmark endpoint: the five-contributor threshold, aggregate calculation and public anonymous result.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shared/schemas/benchmark.ts</a:t>
            </a:r>
          </a:p>
          <a:p>
            <a:r>
              <a:t>- Project source: docs/MembersPlan/insightflow-phase-2.html</a:t>
            </a:r>
          </a:p>
          <a:p>
            <a:r>
              <a:t>- Project source: nuxt.config.ts</a:t>
            </a:r>
          </a:p>
          <a:p>
            <a:r>
              <a:t>- https://nuxt.com/docs/4.x/guide/concepts/rendering#hybrid-rendering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ecosystem map to connect earlier slides: Vue supplies the component model; Nuxt supplies routing, Nitro, middleware and configuration; Zod and MongoDB complete the application flow.</a:t>
            </a:r>
          </a:p>
          <a:p>
            <a:r>
              <a:t>The value is not that everything is magical. The value is that conventions make the boundaries visible and consistent.</a:t>
            </a:r>
          </a:p>
          <a:p>
            <a:r>
              <a:t>Mention runtimeConfig feature flags as the Phase 2 mechanism that allowed additive work to merge without exposing unfinished features.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nuxt.config.ts</a:t>
            </a:r>
          </a:p>
          <a:p>
            <a:r>
              <a:t>- Project source: docs/HANDOFF.md</a:t>
            </a:r>
          </a:p>
          <a:p>
            <a:r>
              <a:t>- https://nuxt.com/docs/4.x/getting-started/introduction</a:t>
            </a:r>
          </a:p>
          <a:p>
            <a:r>
              <a:t>- https://nitro.build/guide</a:t>
            </a:r>
          </a:p>
          <a:p>
            <a:r>
              <a:t>- https://www.mongodb.com/docs/drivers/node/current/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Resolve the opening claim: the team did not merely learn syntax; it learned to reason about boundaries.</a:t>
            </a:r>
          </a:p>
          <a:p>
            <a:r>
              <a:t>Rendering decides where the page is built. Validation decides what may cross a boundary. Full-stack flows decide whether a feature is complete. Explainability decides whether the result is useful.</a:t>
            </a:r>
          </a:p>
          <a:p>
            <a:r>
              <a:t>Close with the project evidence across Phase 2, then invite questions about any boundary rather than ending with a generic thank-you.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docs/HANDOFF.md</a:t>
            </a:r>
          </a:p>
          <a:p>
            <a:r>
              <a:t>- Project source: docs/MembersPlan/insightflow-phase-2.html</a:t>
            </a:r>
          </a:p>
          <a:p>
            <a:r>
              <a:t>- https://nuxt.com/docs/4.x/getting-started/introduction</a:t>
            </a:r>
          </a:p>
          <a:p>
            <a:r>
              <a:t>- https://vuejs.org/guide/introduction.html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ero-glow">
            <a:extLst>
              <a:ext uri="{FF2B5EF4-FFF2-40B4-BE49-F238E27FC236}">
                <a16:creationId xmlns:a16="http://schemas.microsoft.com/office/drawing/2014/main" id="{39BFF314-9EBE-406C-B7E8-5B193B6C38B5}"/>
              </a:ext>
            </a:extLst>
          </p:cNvPr>
          <p:cNvSpPr>
            <a:spLocks noGrp="1"/>
          </p:cNvSpPr>
          <p:nvPr/>
        </p:nvSpPr>
        <p:spPr>
          <a:xfrm>
            <a:off x="7239000" y="666750"/>
            <a:ext cx="4191000" cy="4762500"/>
          </a:xfrm>
          <a:prstGeom prst="ellipse">
            <a:avLst/>
          </a:prstGeom>
          <a:solidFill>
            <a:srgbClr val="0D403D"/>
          </a:solidFill>
          <a:ln w="0">
            <a:noFill/>
            <a:prstDash val="solid"/>
          </a:ln>
        </p:spPr>
      </p:sp>
      <p:sp>
        <p:nvSpPr>
          <p:cNvPr id="2" name="hero-grid-0">
            <a:extLst>
              <a:ext uri="{FF2B5EF4-FFF2-40B4-BE49-F238E27FC236}">
                <a16:creationId xmlns:a16="http://schemas.microsoft.com/office/drawing/2014/main" id="{009C8482-D004-478A-8DBC-E32F953968DA}"/>
              </a:ext>
            </a:extLst>
          </p:cNvPr>
          <p:cNvSpPr>
            <a:spLocks noGrp="1"/>
          </p:cNvSpPr>
          <p:nvPr/>
        </p:nvSpPr>
        <p:spPr>
          <a:xfrm>
            <a:off x="63817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3" name="hero-grid-1">
            <a:extLst>
              <a:ext uri="{FF2B5EF4-FFF2-40B4-BE49-F238E27FC236}">
                <a16:creationId xmlns:a16="http://schemas.microsoft.com/office/drawing/2014/main" id="{BDA1AF96-2FDC-430C-8840-07FBD57454C4}"/>
              </a:ext>
            </a:extLst>
          </p:cNvPr>
          <p:cNvSpPr>
            <a:spLocks noGrp="1"/>
          </p:cNvSpPr>
          <p:nvPr/>
        </p:nvSpPr>
        <p:spPr>
          <a:xfrm>
            <a:off x="69532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hero-grid-2">
            <a:extLst>
              <a:ext uri="{FF2B5EF4-FFF2-40B4-BE49-F238E27FC236}">
                <a16:creationId xmlns:a16="http://schemas.microsoft.com/office/drawing/2014/main" id="{6D387D67-3C9A-40C3-A8E2-26CE76847EAE}"/>
              </a:ext>
            </a:extLst>
          </p:cNvPr>
          <p:cNvSpPr>
            <a:spLocks noGrp="1"/>
          </p:cNvSpPr>
          <p:nvPr/>
        </p:nvSpPr>
        <p:spPr>
          <a:xfrm>
            <a:off x="75247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5" name="hero-grid-3">
            <a:extLst>
              <a:ext uri="{FF2B5EF4-FFF2-40B4-BE49-F238E27FC236}">
                <a16:creationId xmlns:a16="http://schemas.microsoft.com/office/drawing/2014/main" id="{9D52CC35-6335-404F-A5E1-6FA44D7CCBFA}"/>
              </a:ext>
            </a:extLst>
          </p:cNvPr>
          <p:cNvSpPr>
            <a:spLocks noGrp="1"/>
          </p:cNvSpPr>
          <p:nvPr/>
        </p:nvSpPr>
        <p:spPr>
          <a:xfrm>
            <a:off x="80962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6" name="hero-grid-4">
            <a:extLst>
              <a:ext uri="{FF2B5EF4-FFF2-40B4-BE49-F238E27FC236}">
                <a16:creationId xmlns:a16="http://schemas.microsoft.com/office/drawing/2014/main" id="{2C92C9D1-6FDC-43C8-81D9-91AC2515D267}"/>
              </a:ext>
            </a:extLst>
          </p:cNvPr>
          <p:cNvSpPr>
            <a:spLocks noGrp="1"/>
          </p:cNvSpPr>
          <p:nvPr/>
        </p:nvSpPr>
        <p:spPr>
          <a:xfrm>
            <a:off x="86677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7" name="hero-grid-5">
            <a:extLst>
              <a:ext uri="{FF2B5EF4-FFF2-40B4-BE49-F238E27FC236}">
                <a16:creationId xmlns:a16="http://schemas.microsoft.com/office/drawing/2014/main" id="{6594BA14-0344-4092-BFF0-A26D19B306EF}"/>
              </a:ext>
            </a:extLst>
          </p:cNvPr>
          <p:cNvSpPr>
            <a:spLocks noGrp="1"/>
          </p:cNvSpPr>
          <p:nvPr/>
        </p:nvSpPr>
        <p:spPr>
          <a:xfrm>
            <a:off x="92392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8" name="hero-grid-6">
            <a:extLst>
              <a:ext uri="{FF2B5EF4-FFF2-40B4-BE49-F238E27FC236}">
                <a16:creationId xmlns:a16="http://schemas.microsoft.com/office/drawing/2014/main" id="{6A47E31D-AA30-4EC8-AA72-F1B059E71C77}"/>
              </a:ext>
            </a:extLst>
          </p:cNvPr>
          <p:cNvSpPr>
            <a:spLocks noGrp="1"/>
          </p:cNvSpPr>
          <p:nvPr/>
        </p:nvSpPr>
        <p:spPr>
          <a:xfrm>
            <a:off x="98107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9" name="hero-kicker">
            <a:extLst>
              <a:ext uri="{FF2B5EF4-FFF2-40B4-BE49-F238E27FC236}">
                <a16:creationId xmlns:a16="http://schemas.microsoft.com/office/drawing/2014/main" id="{E3867ED4-CC6C-41C6-B01E-655FA2D7CEB5}"/>
              </a:ext>
            </a:extLst>
          </p:cNvPr>
          <p:cNvSpPr>
            <a:spLocks noGrp="1"/>
          </p:cNvSpPr>
          <p:nvPr/>
        </p:nvSpPr>
        <p:spPr>
          <a:xfrm>
            <a:off x="704850" y="6858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1FC7B9"/>
                </a:solidFill>
              </a:defRPr>
            </a:pPr>
            <a:r>
              <a:rPr sz="975" b="1">
                <a:solidFill>
                  <a:srgbClr val="1FC7B9"/>
                </a:solidFill>
              </a:rPr>
              <a:t>INSIGHTFLOW · PHASE 2</a:t>
            </a:r>
          </a:p>
        </p:txBody>
      </p:sp>
      <p:sp>
        <p:nvSpPr>
          <p:cNvPr id="10" name="hero-title">
            <a:extLst>
              <a:ext uri="{FF2B5EF4-FFF2-40B4-BE49-F238E27FC236}">
                <a16:creationId xmlns:a16="http://schemas.microsoft.com/office/drawing/2014/main" id="{85EC9AAA-3E5C-4593-9736-EF8EB1B37AD0}"/>
              </a:ext>
            </a:extLst>
          </p:cNvPr>
          <p:cNvSpPr>
            <a:spLocks noGrp="1"/>
          </p:cNvSpPr>
          <p:nvPr/>
        </p:nvSpPr>
        <p:spPr>
          <a:xfrm>
            <a:off x="704850" y="1352550"/>
            <a:ext cx="7334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We learned Nuxt</a:t>
            </a:r>
          </a:p>
          <a:p>
            <a:pPr algn="l">
              <a:buNone/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by building with it</a:t>
            </a:r>
          </a:p>
        </p:txBody>
      </p:sp>
      <p:sp>
        <p:nvSpPr>
          <p:cNvPr id="11" name="hero-subtitle">
            <a:extLst>
              <a:ext uri="{FF2B5EF4-FFF2-40B4-BE49-F238E27FC236}">
                <a16:creationId xmlns:a16="http://schemas.microsoft.com/office/drawing/2014/main" id="{0C688341-6041-4604-B4EF-7E6ABD3B4179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619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0">
                <a:solidFill>
                  <a:srgbClr val="CFEDEA"/>
                </a:solidFill>
              </a:defRPr>
            </a:pPr>
            <a:r>
              <a:rPr sz="1875" b="0">
                <a:solidFill>
                  <a:srgbClr val="CFEDEA"/>
                </a:solidFill>
              </a:rPr>
              <a:t>A five-person transition from MERN to a full Nuxt 4 + Vue 3 application</a:t>
            </a:r>
          </a:p>
        </p:txBody>
      </p:sp>
      <p:sp>
        <p:nvSpPr>
          <p:cNvPr id="12" name="hero-mark">
            <a:extLst>
              <a:ext uri="{FF2B5EF4-FFF2-40B4-BE49-F238E27FC236}">
                <a16:creationId xmlns:a16="http://schemas.microsoft.com/office/drawing/2014/main" id="{01E40122-ED84-4534-B123-15D8DB8BA709}"/>
              </a:ext>
            </a:extLst>
          </p:cNvPr>
          <p:cNvSpPr>
            <a:spLocks noGrp="1"/>
          </p:cNvSpPr>
          <p:nvPr/>
        </p:nvSpPr>
        <p:spPr>
          <a:xfrm>
            <a:off x="8001000" y="1924050"/>
            <a:ext cx="314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5250" b="1">
                <a:solidFill>
                  <a:srgbClr val="2C5F5B"/>
                </a:solidFill>
              </a:defRPr>
            </a:pPr>
            <a:r>
              <a:rPr sz="5250" b="1" dirty="0">
                <a:solidFill>
                  <a:srgbClr val="2C5F5B"/>
                </a:solidFill>
              </a:rPr>
              <a:t>NUXT</a:t>
            </a:r>
          </a:p>
        </p:txBody>
      </p:sp>
      <p:sp>
        <p:nvSpPr>
          <p:cNvPr id="13" name="hero-cross">
            <a:extLst>
              <a:ext uri="{FF2B5EF4-FFF2-40B4-BE49-F238E27FC236}">
                <a16:creationId xmlns:a16="http://schemas.microsoft.com/office/drawing/2014/main" id="{4E54C64D-4623-4122-A130-08BCB5E9D644}"/>
              </a:ext>
            </a:extLst>
          </p:cNvPr>
          <p:cNvSpPr>
            <a:spLocks noGrp="1"/>
          </p:cNvSpPr>
          <p:nvPr/>
        </p:nvSpPr>
        <p:spPr>
          <a:xfrm>
            <a:off x="9048750" y="2933700"/>
            <a:ext cx="95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4050" b="0">
                <a:solidFill>
                  <a:srgbClr val="1FC7B9"/>
                </a:solidFill>
              </a:defRPr>
            </a:pPr>
            <a:r>
              <a:rPr sz="4050" b="0">
                <a:solidFill>
                  <a:srgbClr val="1FC7B9"/>
                </a:solidFill>
              </a:rPr>
              <a:t>×</a:t>
            </a:r>
          </a:p>
        </p:txBody>
      </p:sp>
      <p:sp>
        <p:nvSpPr>
          <p:cNvPr id="14" name="hero-mark-2">
            <a:extLst>
              <a:ext uri="{FF2B5EF4-FFF2-40B4-BE49-F238E27FC236}">
                <a16:creationId xmlns:a16="http://schemas.microsoft.com/office/drawing/2014/main" id="{76696F84-1019-4E28-A97E-A2B6956F6156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14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5250" b="1">
                <a:solidFill>
                  <a:srgbClr val="2C5F5B"/>
                </a:solidFill>
              </a:defRPr>
            </a:pPr>
            <a:r>
              <a:rPr sz="5250" b="1">
                <a:solidFill>
                  <a:srgbClr val="2C5F5B"/>
                </a:solidFill>
              </a:rPr>
              <a:t>VUE</a:t>
            </a:r>
          </a:p>
        </p:txBody>
      </p:sp>
      <p:sp>
        <p:nvSpPr>
          <p:cNvPr id="16" name="hero-audience-text">
            <a:extLst>
              <a:ext uri="{FF2B5EF4-FFF2-40B4-BE49-F238E27FC236}">
                <a16:creationId xmlns:a16="http://schemas.microsoft.com/office/drawing/2014/main" id="{8B508315-803B-472C-A58F-73EBD3D7B64C}"/>
              </a:ext>
            </a:extLst>
          </p:cNvPr>
          <p:cNvSpPr>
            <a:spLocks noGrp="1"/>
          </p:cNvSpPr>
          <p:nvPr/>
        </p:nvSpPr>
        <p:spPr>
          <a:xfrm>
            <a:off x="857250" y="4981575"/>
            <a:ext cx="177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092F2E"/>
                </a:solidFill>
              </a:defRPr>
            </a:pPr>
            <a:r>
              <a:rPr sz="975" b="1">
                <a:solidFill>
                  <a:srgbClr val="092F2E"/>
                </a:solidFill>
              </a:rPr>
              <a:t>STUDENTS + MENTORS</a:t>
            </a:r>
          </a:p>
        </p:txBody>
      </p:sp>
      <p:sp>
        <p:nvSpPr>
          <p:cNvPr id="17" name="footer-rule-1">
            <a:extLst>
              <a:ext uri="{FF2B5EF4-FFF2-40B4-BE49-F238E27FC236}">
                <a16:creationId xmlns:a16="http://schemas.microsoft.com/office/drawing/2014/main" id="{E7B141C2-51BC-4526-BA43-05A19AAEFF9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18" name="footer-presenter-1">
            <a:extLst>
              <a:ext uri="{FF2B5EF4-FFF2-40B4-BE49-F238E27FC236}">
                <a16:creationId xmlns:a16="http://schemas.microsoft.com/office/drawing/2014/main" id="{0E15C085-4914-47ED-A36D-5474CDB58D3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Malik</a:t>
            </a:r>
          </a:p>
        </p:txBody>
      </p:sp>
      <p:sp>
        <p:nvSpPr>
          <p:cNvPr id="19" name="footer-source-1">
            <a:extLst>
              <a:ext uri="{FF2B5EF4-FFF2-40B4-BE49-F238E27FC236}">
                <a16:creationId xmlns:a16="http://schemas.microsoft.com/office/drawing/2014/main" id="{6703138C-7427-4B02-A5B7-130A4D86410E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20" name="footer-number-1">
            <a:extLst>
              <a:ext uri="{FF2B5EF4-FFF2-40B4-BE49-F238E27FC236}">
                <a16:creationId xmlns:a16="http://schemas.microsoft.com/office/drawing/2014/main" id="{F5814527-F931-4765-A597-E6A685FE39BD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64719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-2">
            <a:extLst>
              <a:ext uri="{FF2B5EF4-FFF2-40B4-BE49-F238E27FC236}">
                <a16:creationId xmlns:a16="http://schemas.microsoft.com/office/drawing/2014/main" id="{13E4664F-4418-4CD1-BA5F-590B264EE61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C549C88F-AA4D-49FF-AD10-F3325A3873A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Vue builds the interface; Nuxt organizes the application</a:t>
            </a:r>
          </a:p>
        </p:txBody>
      </p:sp>
      <p:sp>
        <p:nvSpPr>
          <p:cNvPr id="3" name="footer-rule-2">
            <a:extLst>
              <a:ext uri="{FF2B5EF4-FFF2-40B4-BE49-F238E27FC236}">
                <a16:creationId xmlns:a16="http://schemas.microsoft.com/office/drawing/2014/main" id="{A0C89305-45AC-4CA6-ABA9-C00611508AC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2">
            <a:extLst>
              <a:ext uri="{FF2B5EF4-FFF2-40B4-BE49-F238E27FC236}">
                <a16:creationId xmlns:a16="http://schemas.microsoft.com/office/drawing/2014/main" id="{518D7453-1D75-4E0E-B7F0-6732DC80629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Malik</a:t>
            </a:r>
          </a:p>
        </p:txBody>
      </p:sp>
      <p:sp>
        <p:nvSpPr>
          <p:cNvPr id="5" name="footer-source-2">
            <a:extLst>
              <a:ext uri="{FF2B5EF4-FFF2-40B4-BE49-F238E27FC236}">
                <a16:creationId xmlns:a16="http://schemas.microsoft.com/office/drawing/2014/main" id="{EAC8A918-4861-48A5-90D4-B27BB24468BD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2">
            <a:extLst>
              <a:ext uri="{FF2B5EF4-FFF2-40B4-BE49-F238E27FC236}">
                <a16:creationId xmlns:a16="http://schemas.microsoft.com/office/drawing/2014/main" id="{1834818D-58B6-48D1-9B32-DC942A17679A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7" name="s2-claim">
            <a:extLst>
              <a:ext uri="{FF2B5EF4-FFF2-40B4-BE49-F238E27FC236}">
                <a16:creationId xmlns:a16="http://schemas.microsoft.com/office/drawing/2014/main" id="{446253DC-0097-4287-9961-697C2B435067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3429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325" b="1">
                <a:solidFill>
                  <a:srgbClr val="092F2E"/>
                </a:solidFill>
              </a:defRPr>
            </a:pPr>
            <a:r>
              <a:rPr sz="2325" b="1">
                <a:solidFill>
                  <a:srgbClr val="092F2E"/>
                </a:solidFill>
              </a:rPr>
              <a:t>Same component model.</a:t>
            </a:r>
          </a:p>
          <a:p>
            <a:pPr algn="l">
              <a:buNone/>
              <a:defRPr sz="2325" b="1">
                <a:solidFill>
                  <a:srgbClr val="092F2E"/>
                </a:solidFill>
              </a:defRPr>
            </a:pPr>
            <a:r>
              <a:rPr sz="2325" b="1">
                <a:solidFill>
                  <a:srgbClr val="092F2E"/>
                </a:solidFill>
              </a:rPr>
              <a:t>A much larger boundary.</a:t>
            </a:r>
          </a:p>
        </p:txBody>
      </p:sp>
      <p:sp>
        <p:nvSpPr>
          <p:cNvPr id="8" name="s2-copy">
            <a:extLst>
              <a:ext uri="{FF2B5EF4-FFF2-40B4-BE49-F238E27FC236}">
                <a16:creationId xmlns:a16="http://schemas.microsoft.com/office/drawing/2014/main" id="{E556680F-03C2-4557-B709-25AFE90E238D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429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Vue handles reactive components. Nuxt adds the conventions that turn those components into a routed, rendered and deployed application.</a:t>
            </a:r>
          </a:p>
        </p:txBody>
      </p:sp>
      <p:sp>
        <p:nvSpPr>
          <p:cNvPr id="9" name="s2-divider">
            <a:extLst>
              <a:ext uri="{FF2B5EF4-FFF2-40B4-BE49-F238E27FC236}">
                <a16:creationId xmlns:a16="http://schemas.microsoft.com/office/drawing/2014/main" id="{A9158228-1D97-4254-9B14-09468F80742C}"/>
              </a:ext>
            </a:extLst>
          </p:cNvPr>
          <p:cNvSpPr>
            <a:spLocks noGrp="1"/>
          </p:cNvSpPr>
          <p:nvPr/>
        </p:nvSpPr>
        <p:spPr>
          <a:xfrm>
            <a:off x="4476750" y="1581150"/>
            <a:ext cx="0" cy="3981450"/>
          </a:xfrm>
          <a:prstGeom prst="line">
            <a:avLst/>
          </a:prstGeom>
          <a:noFill/>
          <a:ln w="19050">
            <a:solidFill>
              <a:srgbClr val="B8D8D4"/>
            </a:solidFill>
            <a:prstDash val="solid"/>
          </a:ln>
        </p:spPr>
      </p:sp>
      <p:sp>
        <p:nvSpPr>
          <p:cNvPr id="10" name="s2-vue">
            <a:extLst>
              <a:ext uri="{FF2B5EF4-FFF2-40B4-BE49-F238E27FC236}">
                <a16:creationId xmlns:a16="http://schemas.microsoft.com/office/drawing/2014/main" id="{58638787-6E49-4C95-B918-93515DB97816}"/>
              </a:ext>
            </a:extLst>
          </p:cNvPr>
          <p:cNvSpPr>
            <a:spLocks noGrp="1"/>
          </p:cNvSpPr>
          <p:nvPr/>
        </p:nvSpPr>
        <p:spPr>
          <a:xfrm>
            <a:off x="4953000" y="1695450"/>
            <a:ext cx="2524125" cy="3143250"/>
          </a:xfrm>
          <a:prstGeom prst="roundRect">
            <a:avLst>
              <a:gd name="adj" fmla="val 6038"/>
            </a:avLst>
          </a:prstGeom>
          <a:solidFill>
            <a:srgbClr val="EFFDFB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s2-vue-title">
            <a:extLst>
              <a:ext uri="{FF2B5EF4-FFF2-40B4-BE49-F238E27FC236}">
                <a16:creationId xmlns:a16="http://schemas.microsoft.com/office/drawing/2014/main" id="{1D4C58FF-FEC9-41AB-858D-BB78CC7D54E0}"/>
              </a:ext>
            </a:extLst>
          </p:cNvPr>
          <p:cNvSpPr>
            <a:spLocks noGrp="1"/>
          </p:cNvSpPr>
          <p:nvPr/>
        </p:nvSpPr>
        <p:spPr>
          <a:xfrm>
            <a:off x="5124450" y="1857375"/>
            <a:ext cx="2181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092F2E"/>
                </a:solidFill>
              </a:defRPr>
            </a:pPr>
            <a:r>
              <a:rPr sz="2250" b="1">
                <a:solidFill>
                  <a:srgbClr val="092F2E"/>
                </a:solidFill>
              </a:rPr>
              <a:t>VUE</a:t>
            </a:r>
          </a:p>
        </p:txBody>
      </p:sp>
      <p:sp>
        <p:nvSpPr>
          <p:cNvPr id="12" name="s2-vue-caption">
            <a:extLst>
              <a:ext uri="{FF2B5EF4-FFF2-40B4-BE49-F238E27FC236}">
                <a16:creationId xmlns:a16="http://schemas.microsoft.com/office/drawing/2014/main" id="{36CF6006-9073-48ED-92EF-3FA57ACDA61D}"/>
              </a:ext>
            </a:extLst>
          </p:cNvPr>
          <p:cNvSpPr>
            <a:spLocks noGrp="1"/>
          </p:cNvSpPr>
          <p:nvPr/>
        </p:nvSpPr>
        <p:spPr>
          <a:xfrm>
            <a:off x="5124450" y="2209800"/>
            <a:ext cx="2181225" cy="2495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components</a:t>
            </a:r>
          </a:p>
          <a:p>
            <a:pPr algn="ctr">
              <a:buNone/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reactivity</a:t>
            </a:r>
          </a:p>
          <a:p>
            <a:pPr algn="ctr">
              <a:buNone/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props + events</a:t>
            </a:r>
          </a:p>
          <a:p>
            <a:pPr algn="ctr">
              <a:buNone/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templates</a:t>
            </a:r>
          </a:p>
        </p:txBody>
      </p:sp>
      <p:sp>
        <p:nvSpPr>
          <p:cNvPr id="13" name="s2-nuxt">
            <a:extLst>
              <a:ext uri="{FF2B5EF4-FFF2-40B4-BE49-F238E27FC236}">
                <a16:creationId xmlns:a16="http://schemas.microsoft.com/office/drawing/2014/main" id="{8967D0AC-0EB0-4EB3-8075-868FE689B59F}"/>
              </a:ext>
            </a:extLst>
          </p:cNvPr>
          <p:cNvSpPr>
            <a:spLocks noGrp="1"/>
          </p:cNvSpPr>
          <p:nvPr/>
        </p:nvSpPr>
        <p:spPr>
          <a:xfrm>
            <a:off x="8039100" y="1695450"/>
            <a:ext cx="2781300" cy="3143250"/>
          </a:xfrm>
          <a:prstGeom prst="roundRect">
            <a:avLst>
              <a:gd name="adj" fmla="val 5479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s2-nuxt-title">
            <a:extLst>
              <a:ext uri="{FF2B5EF4-FFF2-40B4-BE49-F238E27FC236}">
                <a16:creationId xmlns:a16="http://schemas.microsoft.com/office/drawing/2014/main" id="{96249A15-532F-41F8-8A29-898E019DD538}"/>
              </a:ext>
            </a:extLst>
          </p:cNvPr>
          <p:cNvSpPr>
            <a:spLocks noGrp="1"/>
          </p:cNvSpPr>
          <p:nvPr/>
        </p:nvSpPr>
        <p:spPr>
          <a:xfrm>
            <a:off x="8210550" y="1857375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NUXT</a:t>
            </a:r>
          </a:p>
        </p:txBody>
      </p:sp>
      <p:sp>
        <p:nvSpPr>
          <p:cNvPr id="15" name="s2-nuxt-caption">
            <a:extLst>
              <a:ext uri="{FF2B5EF4-FFF2-40B4-BE49-F238E27FC236}">
                <a16:creationId xmlns:a16="http://schemas.microsoft.com/office/drawing/2014/main" id="{58612444-D9AC-47B1-A4CF-FBD030916634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2438400" cy="2495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0">
                <a:solidFill>
                  <a:srgbClr val="CFEDEA"/>
                </a:solidFill>
              </a:defRPr>
            </a:pPr>
            <a:r>
              <a:rPr sz="1650" b="0">
                <a:solidFill>
                  <a:srgbClr val="CFEDEA"/>
                </a:solidFill>
              </a:rPr>
              <a:t>routing</a:t>
            </a:r>
          </a:p>
          <a:p>
            <a:pPr algn="ctr">
              <a:buNone/>
              <a:defRPr sz="1650" b="0">
                <a:solidFill>
                  <a:srgbClr val="CFEDEA"/>
                </a:solidFill>
              </a:defRPr>
            </a:pPr>
            <a:r>
              <a:rPr sz="1650" b="0">
                <a:solidFill>
                  <a:srgbClr val="CFEDEA"/>
                </a:solidFill>
              </a:rPr>
              <a:t>rendering</a:t>
            </a:r>
          </a:p>
          <a:p>
            <a:pPr algn="ctr">
              <a:buNone/>
              <a:defRPr sz="1650" b="0">
                <a:solidFill>
                  <a:srgbClr val="CFEDEA"/>
                </a:solidFill>
              </a:defRPr>
            </a:pPr>
            <a:r>
              <a:rPr sz="1650" b="0">
                <a:solidFill>
                  <a:srgbClr val="CFEDEA"/>
                </a:solidFill>
              </a:rPr>
              <a:t>server APIs</a:t>
            </a:r>
          </a:p>
          <a:p>
            <a:pPr algn="ctr">
              <a:buNone/>
              <a:defRPr sz="1650" b="0">
                <a:solidFill>
                  <a:srgbClr val="CFEDEA"/>
                </a:solidFill>
              </a:defRPr>
            </a:pPr>
            <a:r>
              <a:rPr sz="1650" b="0">
                <a:solidFill>
                  <a:srgbClr val="CFEDEA"/>
                </a:solidFill>
              </a:rPr>
              <a:t>middleware + config</a:t>
            </a:r>
          </a:p>
        </p:txBody>
      </p:sp>
      <p:sp>
        <p:nvSpPr>
          <p:cNvPr id="16" name="s2-react-bg">
            <a:extLst>
              <a:ext uri="{FF2B5EF4-FFF2-40B4-BE49-F238E27FC236}">
                <a16:creationId xmlns:a16="http://schemas.microsoft.com/office/drawing/2014/main" id="{C0F463A7-A491-44F4-8E0A-F1B8DF0F02B5}"/>
              </a:ext>
            </a:extLst>
          </p:cNvPr>
          <p:cNvSpPr>
            <a:spLocks noGrp="1"/>
          </p:cNvSpPr>
          <p:nvPr/>
        </p:nvSpPr>
        <p:spPr>
          <a:xfrm>
            <a:off x="4953000" y="5105400"/>
            <a:ext cx="2524125" cy="3238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7" name="s2-react-text">
            <a:extLst>
              <a:ext uri="{FF2B5EF4-FFF2-40B4-BE49-F238E27FC236}">
                <a16:creationId xmlns:a16="http://schemas.microsoft.com/office/drawing/2014/main" id="{28034103-FB00-4326-996C-FDF6317B4D92}"/>
              </a:ext>
            </a:extLst>
          </p:cNvPr>
          <p:cNvSpPr>
            <a:spLocks noGrp="1"/>
          </p:cNvSpPr>
          <p:nvPr/>
        </p:nvSpPr>
        <p:spPr>
          <a:xfrm>
            <a:off x="5067300" y="5172075"/>
            <a:ext cx="22955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React ≈ Vue</a:t>
            </a:r>
          </a:p>
        </p:txBody>
      </p:sp>
      <p:sp>
        <p:nvSpPr>
          <p:cNvPr id="18" name="s2-next-bg">
            <a:extLst>
              <a:ext uri="{FF2B5EF4-FFF2-40B4-BE49-F238E27FC236}">
                <a16:creationId xmlns:a16="http://schemas.microsoft.com/office/drawing/2014/main" id="{F23F201C-8F16-4782-8F42-CDD2325903D6}"/>
              </a:ext>
            </a:extLst>
          </p:cNvPr>
          <p:cNvSpPr>
            <a:spLocks noGrp="1"/>
          </p:cNvSpPr>
          <p:nvPr/>
        </p:nvSpPr>
        <p:spPr>
          <a:xfrm>
            <a:off x="8039100" y="5105400"/>
            <a:ext cx="2781300" cy="323850"/>
          </a:xfrm>
          <a:prstGeom prst="roundRect">
            <a:avLst>
              <a:gd name="adj" fmla="val 50000"/>
            </a:avLst>
          </a:prstGeom>
          <a:solidFill>
            <a:srgbClr val="D7FAF6"/>
          </a:solidFill>
          <a:ln w="0">
            <a:noFill/>
            <a:prstDash val="solid"/>
          </a:ln>
        </p:spPr>
      </p:sp>
      <p:sp>
        <p:nvSpPr>
          <p:cNvPr id="19" name="s2-next-text">
            <a:extLst>
              <a:ext uri="{FF2B5EF4-FFF2-40B4-BE49-F238E27FC236}">
                <a16:creationId xmlns:a16="http://schemas.microsoft.com/office/drawing/2014/main" id="{F852AC7E-55D9-446E-BDA2-EE551795A106}"/>
              </a:ext>
            </a:extLst>
          </p:cNvPr>
          <p:cNvSpPr>
            <a:spLocks noGrp="1"/>
          </p:cNvSpPr>
          <p:nvPr/>
        </p:nvSpPr>
        <p:spPr>
          <a:xfrm>
            <a:off x="8153400" y="5172075"/>
            <a:ext cx="2552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092F2E"/>
                </a:solidFill>
              </a:defRPr>
            </a:pPr>
            <a:r>
              <a:rPr sz="975" b="1">
                <a:solidFill>
                  <a:srgbClr val="092F2E"/>
                </a:solidFill>
              </a:rPr>
              <a:t>Next.js ≈ Nuxt</a:t>
            </a:r>
          </a:p>
        </p:txBody>
      </p:sp>
    </p:spTree>
    <p:extLst>
      <p:ext uri="{BB962C8B-B14F-4D97-AF65-F5344CB8AC3E}">
        <p14:creationId xmlns:p14="http://schemas.microsoft.com/office/powerpoint/2010/main" val="8356365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yebrow-3">
            <a:extLst>
              <a:ext uri="{FF2B5EF4-FFF2-40B4-BE49-F238E27FC236}">
                <a16:creationId xmlns:a16="http://schemas.microsoft.com/office/drawing/2014/main" id="{B5706AC0-F22C-4241-9772-B5EEEF47958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INSIGHTFLOW · NUXT / VUE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922988E6-E14F-4987-A52C-C2B804E2DA6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One Nuxt app can use different rendering strategies</a:t>
            </a:r>
          </a:p>
        </p:txBody>
      </p:sp>
      <p:sp>
        <p:nvSpPr>
          <p:cNvPr id="3" name="footer-rule-3">
            <a:extLst>
              <a:ext uri="{FF2B5EF4-FFF2-40B4-BE49-F238E27FC236}">
                <a16:creationId xmlns:a16="http://schemas.microsoft.com/office/drawing/2014/main" id="{04C4F25C-BFF3-4CD2-9EB2-66276206214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footer-presenter-3">
            <a:extLst>
              <a:ext uri="{FF2B5EF4-FFF2-40B4-BE49-F238E27FC236}">
                <a16:creationId xmlns:a16="http://schemas.microsoft.com/office/drawing/2014/main" id="{FC75E16C-94AF-4312-9C30-CC33FFE4D47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Malik</a:t>
            </a:r>
          </a:p>
        </p:txBody>
      </p:sp>
      <p:sp>
        <p:nvSpPr>
          <p:cNvPr id="5" name="footer-source-3">
            <a:extLst>
              <a:ext uri="{FF2B5EF4-FFF2-40B4-BE49-F238E27FC236}">
                <a16:creationId xmlns:a16="http://schemas.microsoft.com/office/drawing/2014/main" id="{759AD024-A9C0-4249-9B54-166E9EAE76CE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6" name="footer-number-3">
            <a:extLst>
              <a:ext uri="{FF2B5EF4-FFF2-40B4-BE49-F238E27FC236}">
                <a16:creationId xmlns:a16="http://schemas.microsoft.com/office/drawing/2014/main" id="{58E54474-5E65-4179-9F4E-415BA158D7E3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03</a:t>
            </a:r>
          </a:p>
        </p:txBody>
      </p:sp>
      <p:sp>
        <p:nvSpPr>
          <p:cNvPr id="7" name="s3-dot-0">
            <a:extLst>
              <a:ext uri="{FF2B5EF4-FFF2-40B4-BE49-F238E27FC236}">
                <a16:creationId xmlns:a16="http://schemas.microsoft.com/office/drawing/2014/main" id="{8AC2E406-A3C1-49AE-BCFE-EAC4BBF4CB15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171450" cy="1714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8" name="s3-mode-0">
            <a:extLst>
              <a:ext uri="{FF2B5EF4-FFF2-40B4-BE49-F238E27FC236}">
                <a16:creationId xmlns:a16="http://schemas.microsoft.com/office/drawing/2014/main" id="{2F5C0F7A-77AE-4014-BF38-4275B7204652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PRERENDER</a:t>
            </a:r>
          </a:p>
        </p:txBody>
      </p:sp>
      <p:sp>
        <p:nvSpPr>
          <p:cNvPr id="9" name="s3-route-0">
            <a:extLst>
              <a:ext uri="{FF2B5EF4-FFF2-40B4-BE49-F238E27FC236}">
                <a16:creationId xmlns:a16="http://schemas.microsoft.com/office/drawing/2014/main" id="{DBDE4E21-ACBB-4807-9D4A-575A2A76676B}"/>
              </a:ext>
            </a:extLst>
          </p:cNvPr>
          <p:cNvSpPr>
            <a:spLocks noGrp="1"/>
          </p:cNvSpPr>
          <p:nvPr/>
        </p:nvSpPr>
        <p:spPr>
          <a:xfrm>
            <a:off x="1066800" y="20955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CFEDEA"/>
                </a:solidFill>
              </a:defRPr>
            </a:pPr>
            <a:r>
              <a:rPr sz="1200" b="0">
                <a:solidFill>
                  <a:srgbClr val="CFEDEA"/>
                </a:solidFill>
              </a:rPr>
              <a:t>Landing page</a:t>
            </a:r>
          </a:p>
        </p:txBody>
      </p:sp>
      <p:sp>
        <p:nvSpPr>
          <p:cNvPr id="10" name="s3-why-0">
            <a:extLst>
              <a:ext uri="{FF2B5EF4-FFF2-40B4-BE49-F238E27FC236}">
                <a16:creationId xmlns:a16="http://schemas.microsoft.com/office/drawing/2014/main" id="{BB42943A-2DF4-41E4-BEDC-101AB9154EC4}"/>
              </a:ext>
            </a:extLst>
          </p:cNvPr>
          <p:cNvSpPr>
            <a:spLocks noGrp="1"/>
          </p:cNvSpPr>
          <p:nvPr/>
        </p:nvSpPr>
        <p:spPr>
          <a:xfrm>
            <a:off x="3200400" y="18859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F59E0B"/>
                </a:solidFill>
              </a:defRPr>
            </a:pPr>
            <a:r>
              <a:rPr sz="1050" b="0">
                <a:solidFill>
                  <a:srgbClr val="F59E0B"/>
                </a:solidFill>
              </a:rPr>
              <a:t>build once</a:t>
            </a:r>
          </a:p>
        </p:txBody>
      </p:sp>
      <p:sp>
        <p:nvSpPr>
          <p:cNvPr id="11" name="s3-rule-0">
            <a:extLst>
              <a:ext uri="{FF2B5EF4-FFF2-40B4-BE49-F238E27FC236}">
                <a16:creationId xmlns:a16="http://schemas.microsoft.com/office/drawing/2014/main" id="{57CA1146-4957-4474-8E45-02CDFE085809}"/>
              </a:ext>
            </a:extLst>
          </p:cNvPr>
          <p:cNvSpPr>
            <a:spLocks noGrp="1"/>
          </p:cNvSpPr>
          <p:nvPr/>
        </p:nvSpPr>
        <p:spPr>
          <a:xfrm>
            <a:off x="1066800" y="2571750"/>
            <a:ext cx="363855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12" name="s3-dot-1">
            <a:extLst>
              <a:ext uri="{FF2B5EF4-FFF2-40B4-BE49-F238E27FC236}">
                <a16:creationId xmlns:a16="http://schemas.microsoft.com/office/drawing/2014/main" id="{0A501E77-F35B-4A7C-A39B-AFA821C1468B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171450" cy="17145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3" name="s3-mode-1">
            <a:extLst>
              <a:ext uri="{FF2B5EF4-FFF2-40B4-BE49-F238E27FC236}">
                <a16:creationId xmlns:a16="http://schemas.microsoft.com/office/drawing/2014/main" id="{62FBB271-5A0D-4FD3-AE7B-309B2C446D15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CACHED SSR</a:t>
            </a:r>
          </a:p>
        </p:txBody>
      </p:sp>
      <p:sp>
        <p:nvSpPr>
          <p:cNvPr id="14" name="s3-route-1">
            <a:extLst>
              <a:ext uri="{FF2B5EF4-FFF2-40B4-BE49-F238E27FC236}">
                <a16:creationId xmlns:a16="http://schemas.microsoft.com/office/drawing/2014/main" id="{E8D42B29-2612-483E-97D5-A9E1D71B0D37}"/>
              </a:ext>
            </a:extLst>
          </p:cNvPr>
          <p:cNvSpPr>
            <a:spLocks noGrp="1"/>
          </p:cNvSpPr>
          <p:nvPr/>
        </p:nvSpPr>
        <p:spPr>
          <a:xfrm>
            <a:off x="1066800" y="32194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CFEDEA"/>
                </a:solidFill>
              </a:defRPr>
            </a:pPr>
            <a:r>
              <a:rPr sz="1200" b="0">
                <a:solidFill>
                  <a:srgbClr val="CFEDEA"/>
                </a:solidFill>
              </a:rPr>
              <a:t>Public insights</a:t>
            </a:r>
          </a:p>
        </p:txBody>
      </p:sp>
      <p:sp>
        <p:nvSpPr>
          <p:cNvPr id="15" name="s3-why-1">
            <a:extLst>
              <a:ext uri="{FF2B5EF4-FFF2-40B4-BE49-F238E27FC236}">
                <a16:creationId xmlns:a16="http://schemas.microsoft.com/office/drawing/2014/main" id="{E15364CD-D6A2-48E0-BC3F-07629EE47171}"/>
              </a:ext>
            </a:extLst>
          </p:cNvPr>
          <p:cNvSpPr>
            <a:spLocks noGrp="1"/>
          </p:cNvSpPr>
          <p:nvPr/>
        </p:nvSpPr>
        <p:spPr>
          <a:xfrm>
            <a:off x="3200400" y="30099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1FC7B9"/>
                </a:solidFill>
              </a:defRPr>
            </a:pPr>
            <a:r>
              <a:rPr sz="1050" b="0">
                <a:solidFill>
                  <a:srgbClr val="1FC7B9"/>
                </a:solidFill>
              </a:rPr>
              <a:t>HTML + SWR</a:t>
            </a:r>
          </a:p>
        </p:txBody>
      </p:sp>
      <p:sp>
        <p:nvSpPr>
          <p:cNvPr id="16" name="s3-rule-1">
            <a:extLst>
              <a:ext uri="{FF2B5EF4-FFF2-40B4-BE49-F238E27FC236}">
                <a16:creationId xmlns:a16="http://schemas.microsoft.com/office/drawing/2014/main" id="{BB7E2FE4-C4A9-4DC2-9EF3-489B8C1D90F5}"/>
              </a:ext>
            </a:extLst>
          </p:cNvPr>
          <p:cNvSpPr>
            <a:spLocks noGrp="1"/>
          </p:cNvSpPr>
          <p:nvPr/>
        </p:nvSpPr>
        <p:spPr>
          <a:xfrm>
            <a:off x="1066800" y="3695700"/>
            <a:ext cx="363855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17" name="s3-dot-2">
            <a:extLst>
              <a:ext uri="{FF2B5EF4-FFF2-40B4-BE49-F238E27FC236}">
                <a16:creationId xmlns:a16="http://schemas.microsoft.com/office/drawing/2014/main" id="{020F6926-5BD9-4BDC-9591-7421CEE21A36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171450" cy="171450"/>
          </a:xfrm>
          <a:prstGeom prst="ellipse">
            <a:avLst/>
          </a:prstGeom>
          <a:solidFill>
            <a:srgbClr val="93C5FD"/>
          </a:solidFill>
          <a:ln w="0">
            <a:noFill/>
            <a:prstDash val="solid"/>
          </a:ln>
        </p:spPr>
      </p:sp>
      <p:sp>
        <p:nvSpPr>
          <p:cNvPr id="18" name="s3-mode-2">
            <a:extLst>
              <a:ext uri="{FF2B5EF4-FFF2-40B4-BE49-F238E27FC236}">
                <a16:creationId xmlns:a16="http://schemas.microsoft.com/office/drawing/2014/main" id="{0F6149FA-4F7E-466C-9D88-31296D17DFE0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CSR</a:t>
            </a:r>
          </a:p>
        </p:txBody>
      </p:sp>
      <p:sp>
        <p:nvSpPr>
          <p:cNvPr id="19" name="s3-route-2">
            <a:extLst>
              <a:ext uri="{FF2B5EF4-FFF2-40B4-BE49-F238E27FC236}">
                <a16:creationId xmlns:a16="http://schemas.microsoft.com/office/drawing/2014/main" id="{585B86DF-7492-4A43-8FA3-A4ED2C7EA991}"/>
              </a:ext>
            </a:extLst>
          </p:cNvPr>
          <p:cNvSpPr>
            <a:spLocks noGrp="1"/>
          </p:cNvSpPr>
          <p:nvPr/>
        </p:nvSpPr>
        <p:spPr>
          <a:xfrm>
            <a:off x="1066800" y="43434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CFEDEA"/>
                </a:solidFill>
              </a:defRPr>
            </a:pPr>
            <a:r>
              <a:rPr sz="1200" b="0">
                <a:solidFill>
                  <a:srgbClr val="CFEDEA"/>
                </a:solidFill>
              </a:rPr>
              <a:t>Owner workspace</a:t>
            </a:r>
          </a:p>
        </p:txBody>
      </p:sp>
      <p:sp>
        <p:nvSpPr>
          <p:cNvPr id="20" name="s3-why-2">
            <a:extLst>
              <a:ext uri="{FF2B5EF4-FFF2-40B4-BE49-F238E27FC236}">
                <a16:creationId xmlns:a16="http://schemas.microsoft.com/office/drawing/2014/main" id="{775332D8-45A3-4958-9376-A702043C0470}"/>
              </a:ext>
            </a:extLst>
          </p:cNvPr>
          <p:cNvSpPr>
            <a:spLocks noGrp="1"/>
          </p:cNvSpPr>
          <p:nvPr/>
        </p:nvSpPr>
        <p:spPr>
          <a:xfrm>
            <a:off x="3200400" y="41338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93C5FD"/>
                </a:solidFill>
              </a:defRPr>
            </a:pPr>
            <a:r>
              <a:rPr sz="1050" b="0">
                <a:solidFill>
                  <a:srgbClr val="93C5FD"/>
                </a:solidFill>
              </a:rPr>
              <a:t>private + personal</a:t>
            </a:r>
          </a:p>
        </p:txBody>
      </p:sp>
      <p:sp>
        <p:nvSpPr>
          <p:cNvPr id="21" name="code-frame-3">
            <a:extLst>
              <a:ext uri="{FF2B5EF4-FFF2-40B4-BE49-F238E27FC236}">
                <a16:creationId xmlns:a16="http://schemas.microsoft.com/office/drawing/2014/main" id="{D84E88C8-5669-4A0E-B431-1D064C38F0F1}"/>
              </a:ext>
            </a:extLst>
          </p:cNvPr>
          <p:cNvSpPr>
            <a:spLocks noGrp="1"/>
          </p:cNvSpPr>
          <p:nvPr/>
        </p:nvSpPr>
        <p:spPr>
          <a:xfrm>
            <a:off x="5238750" y="1466850"/>
            <a:ext cx="6267450" cy="4381500"/>
          </a:xfrm>
          <a:prstGeom prst="roundRect">
            <a:avLst>
              <a:gd name="adj" fmla="val 4348"/>
            </a:avLst>
          </a:prstGeom>
          <a:solidFill>
            <a:srgbClr val="071F1F"/>
          </a:solidFill>
          <a:ln w="9525">
            <a:solidFill>
              <a:srgbClr val="2C5F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2" name="code-dot-a-3">
            <a:extLst>
              <a:ext uri="{FF2B5EF4-FFF2-40B4-BE49-F238E27FC236}">
                <a16:creationId xmlns:a16="http://schemas.microsoft.com/office/drawing/2014/main" id="{B6B33C66-C1EC-4ACD-B033-FA6B17D0BC6A}"/>
              </a:ext>
            </a:extLst>
          </p:cNvPr>
          <p:cNvSpPr>
            <a:spLocks noGrp="1"/>
          </p:cNvSpPr>
          <p:nvPr/>
        </p:nvSpPr>
        <p:spPr>
          <a:xfrm>
            <a:off x="5429250" y="163830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23" name="code-dot-b-3">
            <a:extLst>
              <a:ext uri="{FF2B5EF4-FFF2-40B4-BE49-F238E27FC236}">
                <a16:creationId xmlns:a16="http://schemas.microsoft.com/office/drawing/2014/main" id="{C5B7DC91-1082-4E14-8840-2530B2D7C3E4}"/>
              </a:ext>
            </a:extLst>
          </p:cNvPr>
          <p:cNvSpPr>
            <a:spLocks noGrp="1"/>
          </p:cNvSpPr>
          <p:nvPr/>
        </p:nvSpPr>
        <p:spPr>
          <a:xfrm>
            <a:off x="5581650" y="163830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4" name="code-dot-c-3">
            <a:extLst>
              <a:ext uri="{FF2B5EF4-FFF2-40B4-BE49-F238E27FC236}">
                <a16:creationId xmlns:a16="http://schemas.microsoft.com/office/drawing/2014/main" id="{40FE411D-85EB-4226-AFC3-2E1C45E212A7}"/>
              </a:ext>
            </a:extLst>
          </p:cNvPr>
          <p:cNvSpPr>
            <a:spLocks noGrp="1"/>
          </p:cNvSpPr>
          <p:nvPr/>
        </p:nvSpPr>
        <p:spPr>
          <a:xfrm>
            <a:off x="5734050" y="163830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5" name="code-label-3">
            <a:extLst>
              <a:ext uri="{FF2B5EF4-FFF2-40B4-BE49-F238E27FC236}">
                <a16:creationId xmlns:a16="http://schemas.microsoft.com/office/drawing/2014/main" id="{F562951F-4DC7-422A-81E8-775BD66EF1B1}"/>
              </a:ext>
            </a:extLst>
          </p:cNvPr>
          <p:cNvSpPr>
            <a:spLocks noGrp="1"/>
          </p:cNvSpPr>
          <p:nvPr/>
        </p:nvSpPr>
        <p:spPr>
          <a:xfrm>
            <a:off x="5981700" y="1590675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26" name="code-inner-3">
            <a:extLst>
              <a:ext uri="{FF2B5EF4-FFF2-40B4-BE49-F238E27FC236}">
                <a16:creationId xmlns:a16="http://schemas.microsoft.com/office/drawing/2014/main" id="{41F9A105-AADB-4E91-906C-7D870576E21B}"/>
              </a:ext>
            </a:extLst>
          </p:cNvPr>
          <p:cNvSpPr>
            <a:spLocks noGrp="1"/>
          </p:cNvSpPr>
          <p:nvPr/>
        </p:nvSpPr>
        <p:spPr>
          <a:xfrm>
            <a:off x="5410200" y="1943100"/>
            <a:ext cx="5924550" cy="3714750"/>
          </a:xfrm>
          <a:prstGeom prst="roundRect">
            <a:avLst>
              <a:gd name="adj" fmla="val 3077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2260364"/>
            <a:ext cx="5848350" cy="3080221"/>
          </a:xfrm>
          <a:prstGeom prst="roundRect">
            <a:avLst>
              <a:gd name="adj" fmla="val 1571"/>
            </a:avLst>
          </a:prstGeom>
        </p:spPr>
      </p:pic>
    </p:spTree>
    <p:extLst>
      <p:ext uri="{BB962C8B-B14F-4D97-AF65-F5344CB8AC3E}">
        <p14:creationId xmlns:p14="http://schemas.microsoft.com/office/powerpoint/2010/main" val="7804149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4">
            <a:extLst>
              <a:ext uri="{FF2B5EF4-FFF2-40B4-BE49-F238E27FC236}">
                <a16:creationId xmlns:a16="http://schemas.microsoft.com/office/drawing/2014/main" id="{A01E33AA-8FF8-4149-8255-B511343697D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07736EFE-C5CF-487D-AADF-1362CD9B9E9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In Nuxt, the file tree becomes application behavior</a:t>
            </a:r>
          </a:p>
        </p:txBody>
      </p:sp>
      <p:sp>
        <p:nvSpPr>
          <p:cNvPr id="3" name="footer-rule-4">
            <a:extLst>
              <a:ext uri="{FF2B5EF4-FFF2-40B4-BE49-F238E27FC236}">
                <a16:creationId xmlns:a16="http://schemas.microsoft.com/office/drawing/2014/main" id="{BA73DE7E-4C1F-4136-8F6B-AC1E0DEF764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4">
            <a:extLst>
              <a:ext uri="{FF2B5EF4-FFF2-40B4-BE49-F238E27FC236}">
                <a16:creationId xmlns:a16="http://schemas.microsoft.com/office/drawing/2014/main" id="{5E85E95C-D9A2-45F9-BF5A-A1FBDFD7B19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Sumayya</a:t>
            </a:r>
          </a:p>
        </p:txBody>
      </p:sp>
      <p:sp>
        <p:nvSpPr>
          <p:cNvPr id="5" name="footer-source-4">
            <a:extLst>
              <a:ext uri="{FF2B5EF4-FFF2-40B4-BE49-F238E27FC236}">
                <a16:creationId xmlns:a16="http://schemas.microsoft.com/office/drawing/2014/main" id="{CDCF9E09-67FD-4A48-8384-55174D27A58E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4">
            <a:extLst>
              <a:ext uri="{FF2B5EF4-FFF2-40B4-BE49-F238E27FC236}">
                <a16:creationId xmlns:a16="http://schemas.microsoft.com/office/drawing/2014/main" id="{5D713353-4DC9-43A2-8BE2-213995AE7C25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7" name="s4-intro">
            <a:extLst>
              <a:ext uri="{FF2B5EF4-FFF2-40B4-BE49-F238E27FC236}">
                <a16:creationId xmlns:a16="http://schemas.microsoft.com/office/drawing/2014/main" id="{20332EF4-7CB9-4D70-A354-2204397B5839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A path is not just storage. It predicts what Nuxt will do.</a:t>
            </a:r>
          </a:p>
        </p:txBody>
      </p:sp>
      <p:sp>
        <p:nvSpPr>
          <p:cNvPr id="8" name="s4-app">
            <a:extLst>
              <a:ext uri="{FF2B5EF4-FFF2-40B4-BE49-F238E27FC236}">
                <a16:creationId xmlns:a16="http://schemas.microsoft.com/office/drawing/2014/main" id="{F55F1AD5-4EEA-4F13-9F69-C72B5EABD42C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219075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4-app-title">
            <a:extLst>
              <a:ext uri="{FF2B5EF4-FFF2-40B4-BE49-F238E27FC236}">
                <a16:creationId xmlns:a16="http://schemas.microsoft.com/office/drawing/2014/main" id="{BA8D2517-066F-4BEE-AC39-FD60EF15E99C}"/>
              </a:ext>
            </a:extLst>
          </p:cNvPr>
          <p:cNvSpPr>
            <a:spLocks noGrp="1"/>
          </p:cNvSpPr>
          <p:nvPr/>
        </p:nvSpPr>
        <p:spPr>
          <a:xfrm>
            <a:off x="1047750" y="2543175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092F2E"/>
                </a:solidFill>
              </a:defRPr>
            </a:pPr>
            <a:r>
              <a:rPr sz="2100" b="1">
                <a:solidFill>
                  <a:srgbClr val="092F2E"/>
                </a:solidFill>
              </a:rPr>
              <a:t>app/</a:t>
            </a:r>
          </a:p>
        </p:txBody>
      </p:sp>
      <p:sp>
        <p:nvSpPr>
          <p:cNvPr id="10" name="s4-app-caption">
            <a:extLst>
              <a:ext uri="{FF2B5EF4-FFF2-40B4-BE49-F238E27FC236}">
                <a16:creationId xmlns:a16="http://schemas.microsoft.com/office/drawing/2014/main" id="{28FCFB9F-6F1E-4DB7-8294-A868A29852AD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8478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browser code</a:t>
            </a:r>
          </a:p>
        </p:txBody>
      </p:sp>
      <p:sp>
        <p:nvSpPr>
          <p:cNvPr id="11" name="s4-server">
            <a:extLst>
              <a:ext uri="{FF2B5EF4-FFF2-40B4-BE49-F238E27FC236}">
                <a16:creationId xmlns:a16="http://schemas.microsoft.com/office/drawing/2014/main" id="{72CFDB1B-B666-4D40-92DA-5154AC53CA99}"/>
              </a:ext>
            </a:extLst>
          </p:cNvPr>
          <p:cNvSpPr>
            <a:spLocks noGrp="1"/>
          </p:cNvSpPr>
          <p:nvPr/>
        </p:nvSpPr>
        <p:spPr>
          <a:xfrm>
            <a:off x="4991100" y="2381250"/>
            <a:ext cx="219075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4-server-title">
            <a:extLst>
              <a:ext uri="{FF2B5EF4-FFF2-40B4-BE49-F238E27FC236}">
                <a16:creationId xmlns:a16="http://schemas.microsoft.com/office/drawing/2014/main" id="{A3185086-47F8-4C38-BD2A-590E405EB4E9}"/>
              </a:ext>
            </a:extLst>
          </p:cNvPr>
          <p:cNvSpPr>
            <a:spLocks noGrp="1"/>
          </p:cNvSpPr>
          <p:nvPr/>
        </p:nvSpPr>
        <p:spPr>
          <a:xfrm>
            <a:off x="5162550" y="2543175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092F2E"/>
                </a:solidFill>
              </a:defRPr>
            </a:pPr>
            <a:r>
              <a:rPr sz="2100" b="1">
                <a:solidFill>
                  <a:srgbClr val="092F2E"/>
                </a:solidFill>
              </a:rPr>
              <a:t>server/</a:t>
            </a:r>
          </a:p>
        </p:txBody>
      </p:sp>
      <p:sp>
        <p:nvSpPr>
          <p:cNvPr id="13" name="s4-server-caption">
            <a:extLst>
              <a:ext uri="{FF2B5EF4-FFF2-40B4-BE49-F238E27FC236}">
                <a16:creationId xmlns:a16="http://schemas.microsoft.com/office/drawing/2014/main" id="{2076DA05-F19B-4ADC-8222-D31D2C6B1BE7}"/>
              </a:ext>
            </a:extLst>
          </p:cNvPr>
          <p:cNvSpPr>
            <a:spLocks noGrp="1"/>
          </p:cNvSpPr>
          <p:nvPr/>
        </p:nvSpPr>
        <p:spPr>
          <a:xfrm>
            <a:off x="5162550" y="2895600"/>
            <a:ext cx="18478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Nitro endpoints</a:t>
            </a:r>
          </a:p>
        </p:txBody>
      </p:sp>
      <p:sp>
        <p:nvSpPr>
          <p:cNvPr id="14" name="s4-shared">
            <a:extLst>
              <a:ext uri="{FF2B5EF4-FFF2-40B4-BE49-F238E27FC236}">
                <a16:creationId xmlns:a16="http://schemas.microsoft.com/office/drawing/2014/main" id="{5740D9BA-DE78-478C-BB09-59197A1C6276}"/>
              </a:ext>
            </a:extLst>
          </p:cNvPr>
          <p:cNvSpPr>
            <a:spLocks noGrp="1"/>
          </p:cNvSpPr>
          <p:nvPr/>
        </p:nvSpPr>
        <p:spPr>
          <a:xfrm>
            <a:off x="9105900" y="2381250"/>
            <a:ext cx="219075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4-shared-title">
            <a:extLst>
              <a:ext uri="{FF2B5EF4-FFF2-40B4-BE49-F238E27FC236}">
                <a16:creationId xmlns:a16="http://schemas.microsoft.com/office/drawing/2014/main" id="{FA9D8E72-A5C2-4390-9D42-FF293500B246}"/>
              </a:ext>
            </a:extLst>
          </p:cNvPr>
          <p:cNvSpPr>
            <a:spLocks noGrp="1"/>
          </p:cNvSpPr>
          <p:nvPr/>
        </p:nvSpPr>
        <p:spPr>
          <a:xfrm>
            <a:off x="9277350" y="2543175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092F2E"/>
                </a:solidFill>
              </a:defRPr>
            </a:pPr>
            <a:r>
              <a:rPr sz="2100" b="1">
                <a:solidFill>
                  <a:srgbClr val="092F2E"/>
                </a:solidFill>
              </a:rPr>
              <a:t>shared/</a:t>
            </a:r>
          </a:p>
        </p:txBody>
      </p:sp>
      <p:sp>
        <p:nvSpPr>
          <p:cNvPr id="16" name="s4-shared-caption">
            <a:extLst>
              <a:ext uri="{FF2B5EF4-FFF2-40B4-BE49-F238E27FC236}">
                <a16:creationId xmlns:a16="http://schemas.microsoft.com/office/drawing/2014/main" id="{F6406748-7BB7-46CD-8B04-516558B1A2C5}"/>
              </a:ext>
            </a:extLst>
          </p:cNvPr>
          <p:cNvSpPr>
            <a:spLocks noGrp="1"/>
          </p:cNvSpPr>
          <p:nvPr/>
        </p:nvSpPr>
        <p:spPr>
          <a:xfrm>
            <a:off x="9277350" y="2895600"/>
            <a:ext cx="18478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one contract, both sides</a:t>
            </a:r>
          </a:p>
        </p:txBody>
      </p:sp>
      <p:cxnSp>
        <p:nvCxnSpPr>
          <p:cNvPr id="60" name="Straight Arrow Connector 41"/>
          <p:cNvCxnSpPr>
            <a:stCxn id="8" idx="3"/>
            <a:endCxn id="11" idx="1"/>
          </p:cNvCxnSpPr>
          <p:nvPr/>
        </p:nvCxnSpPr>
        <p:spPr>
          <a:xfrm>
            <a:off x="3067050" y="3190875"/>
            <a:ext cx="1924050" cy="0"/>
          </a:xfrm>
          <a:prstGeom prst="straightConnector1">
            <a:avLst/>
          </a:prstGeom>
          <a:ln w="19050">
            <a:solidFill>
              <a:srgbClr val="80CFC7"/>
            </a:solidFill>
            <a:prstDash val="solid"/>
            <a:tailEnd type="triangle" w="sm" len="sm"/>
          </a:ln>
        </p:spPr>
      </p:cxnSp>
      <p:cxnSp>
        <p:nvCxnSpPr>
          <p:cNvPr id="61" name="Straight Arrow Connector 42"/>
          <p:cNvCxnSpPr>
            <a:stCxn id="11" idx="3"/>
            <a:endCxn id="14" idx="1"/>
          </p:cNvCxnSpPr>
          <p:nvPr/>
        </p:nvCxnSpPr>
        <p:spPr>
          <a:xfrm>
            <a:off x="7181850" y="3190875"/>
            <a:ext cx="1924050" cy="0"/>
          </a:xfrm>
          <a:prstGeom prst="straightConnector1">
            <a:avLst/>
          </a:prstGeom>
          <a:ln w="19050">
            <a:solidFill>
              <a:srgbClr val="80CFC7"/>
            </a:solidFill>
            <a:prstDash val="solid"/>
            <a:tailEnd type="triangle" w="sm" len="sm"/>
          </a:ln>
        </p:spPr>
      </p:cxnSp>
      <p:sp>
        <p:nvSpPr>
          <p:cNvPr id="19" name="s4-app-path">
            <a:extLst>
              <a:ext uri="{FF2B5EF4-FFF2-40B4-BE49-F238E27FC236}">
                <a16:creationId xmlns:a16="http://schemas.microsoft.com/office/drawing/2014/main" id="{33407DD0-8B40-424B-90CC-64C925A898A3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092F2E"/>
                </a:solidFill>
              </a:defRPr>
            </a:pPr>
            <a:r>
              <a:rPr sz="1200" b="1">
                <a:solidFill>
                  <a:srgbClr val="092F2E"/>
                </a:solidFill>
              </a:rPr>
              <a:t>app/pages/datasets/[id]/history.vue</a:t>
            </a:r>
          </a:p>
        </p:txBody>
      </p:sp>
      <p:sp>
        <p:nvSpPr>
          <p:cNvPr id="20" name="s4-app-url">
            <a:extLst>
              <a:ext uri="{FF2B5EF4-FFF2-40B4-BE49-F238E27FC236}">
                <a16:creationId xmlns:a16="http://schemas.microsoft.com/office/drawing/2014/main" id="{C61F2539-AF1E-4E64-A5E1-F0B4367DD321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169F96"/>
                </a:solidFill>
              </a:defRPr>
            </a:pPr>
            <a:r>
              <a:rPr sz="1425" b="0">
                <a:solidFill>
                  <a:srgbClr val="169F96"/>
                </a:solidFill>
              </a:rPr>
              <a:t>→ /datasets/:id/history</a:t>
            </a:r>
          </a:p>
        </p:txBody>
      </p:sp>
      <p:sp>
        <p:nvSpPr>
          <p:cNvPr id="21" name="s4-server-path">
            <a:extLst>
              <a:ext uri="{FF2B5EF4-FFF2-40B4-BE49-F238E27FC236}">
                <a16:creationId xmlns:a16="http://schemas.microsoft.com/office/drawing/2014/main" id="{A735B1DB-907A-4448-BDDD-005B50F8690A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092F2E"/>
                </a:solidFill>
              </a:defRPr>
            </a:pPr>
            <a:r>
              <a:rPr sz="1200" b="1">
                <a:solidFill>
                  <a:srgbClr val="092F2E"/>
                </a:solidFill>
              </a:rPr>
              <a:t>server/api/outcomes/index.post.ts</a:t>
            </a:r>
          </a:p>
        </p:txBody>
      </p:sp>
      <p:sp>
        <p:nvSpPr>
          <p:cNvPr id="22" name="s4-server-url">
            <a:extLst>
              <a:ext uri="{FF2B5EF4-FFF2-40B4-BE49-F238E27FC236}">
                <a16:creationId xmlns:a16="http://schemas.microsoft.com/office/drawing/2014/main" id="{4C674497-DF8C-48D7-B891-C7F0C22B0F27}"/>
              </a:ext>
            </a:extLst>
          </p:cNvPr>
          <p:cNvSpPr>
            <a:spLocks noGrp="1"/>
          </p:cNvSpPr>
          <p:nvPr/>
        </p:nvSpPr>
        <p:spPr>
          <a:xfrm>
            <a:off x="4438650" y="48387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169F96"/>
                </a:solidFill>
              </a:defRPr>
            </a:pPr>
            <a:r>
              <a:rPr sz="1425" b="0">
                <a:solidFill>
                  <a:srgbClr val="169F96"/>
                </a:solidFill>
              </a:rPr>
              <a:t>→ POST /api/outcomes</a:t>
            </a:r>
          </a:p>
        </p:txBody>
      </p:sp>
      <p:sp>
        <p:nvSpPr>
          <p:cNvPr id="23" name="s4-shared-path">
            <a:extLst>
              <a:ext uri="{FF2B5EF4-FFF2-40B4-BE49-F238E27FC236}">
                <a16:creationId xmlns:a16="http://schemas.microsoft.com/office/drawing/2014/main" id="{D0DB1E48-6F56-4111-A78D-4BD63341012C}"/>
              </a:ext>
            </a:extLst>
          </p:cNvPr>
          <p:cNvSpPr>
            <a:spLocks noGrp="1"/>
          </p:cNvSpPr>
          <p:nvPr/>
        </p:nvSpPr>
        <p:spPr>
          <a:xfrm>
            <a:off x="8458200" y="44577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092F2E"/>
                </a:solidFill>
              </a:defRPr>
            </a:pPr>
            <a:r>
              <a:rPr sz="1200" b="1">
                <a:solidFill>
                  <a:srgbClr val="092F2E"/>
                </a:solidFill>
              </a:rPr>
              <a:t>shared/schemas/outcome.ts</a:t>
            </a:r>
          </a:p>
        </p:txBody>
      </p:sp>
      <p:sp>
        <p:nvSpPr>
          <p:cNvPr id="24" name="s4-shared-url">
            <a:extLst>
              <a:ext uri="{FF2B5EF4-FFF2-40B4-BE49-F238E27FC236}">
                <a16:creationId xmlns:a16="http://schemas.microsoft.com/office/drawing/2014/main" id="{923DC09F-6C57-4743-8463-27F58DB72B12}"/>
              </a:ext>
            </a:extLst>
          </p:cNvPr>
          <p:cNvSpPr>
            <a:spLocks noGrp="1"/>
          </p:cNvSpPr>
          <p:nvPr/>
        </p:nvSpPr>
        <p:spPr>
          <a:xfrm>
            <a:off x="8458200" y="48387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169F96"/>
                </a:solidFill>
              </a:defRPr>
            </a:pPr>
            <a:r>
              <a:rPr sz="1425" b="0">
                <a:solidFill>
                  <a:srgbClr val="169F96"/>
                </a:solidFill>
              </a:rPr>
              <a:t>→ importable on both sides</a:t>
            </a:r>
          </a:p>
        </p:txBody>
      </p:sp>
      <p:sp>
        <p:nvSpPr>
          <p:cNvPr id="25" name="s4-warning">
            <a:extLst>
              <a:ext uri="{FF2B5EF4-FFF2-40B4-BE49-F238E27FC236}">
                <a16:creationId xmlns:a16="http://schemas.microsoft.com/office/drawing/2014/main" id="{1B463D18-AADA-4272-978C-A0FED5BD9FBA}"/>
              </a:ext>
            </a:extLst>
          </p:cNvPr>
          <p:cNvSpPr>
            <a:spLocks noGrp="1"/>
          </p:cNvSpPr>
          <p:nvPr/>
        </p:nvSpPr>
        <p:spPr>
          <a:xfrm>
            <a:off x="1790700" y="5619750"/>
            <a:ext cx="861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092F2E"/>
                </a:solidFill>
              </a:defRPr>
            </a:pPr>
            <a:r>
              <a:rPr sz="1350" b="1">
                <a:solidFill>
                  <a:srgbClr val="092F2E"/>
                </a:solidFill>
              </a:rPr>
              <a:t>Nuxt 4: application code moved into app/. server/ and shared/ stay at the repository root.</a:t>
            </a:r>
          </a:p>
        </p:txBody>
      </p:sp>
    </p:spTree>
    <p:extLst>
      <p:ext uri="{BB962C8B-B14F-4D97-AF65-F5344CB8AC3E}">
        <p14:creationId xmlns:p14="http://schemas.microsoft.com/office/powerpoint/2010/main" val="4910686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yebrow-5">
            <a:extLst>
              <a:ext uri="{FF2B5EF4-FFF2-40B4-BE49-F238E27FC236}">
                <a16:creationId xmlns:a16="http://schemas.microsoft.com/office/drawing/2014/main" id="{C22E9340-42F2-45A1-846C-EC2CE02633B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906A4ABB-16B5-43AB-AD81-4B89DA98976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One validation contract serves the form and server</a:t>
            </a:r>
          </a:p>
        </p:txBody>
      </p:sp>
      <p:sp>
        <p:nvSpPr>
          <p:cNvPr id="3" name="footer-rule-5">
            <a:extLst>
              <a:ext uri="{FF2B5EF4-FFF2-40B4-BE49-F238E27FC236}">
                <a16:creationId xmlns:a16="http://schemas.microsoft.com/office/drawing/2014/main" id="{4CB21680-CEE8-452B-BDBD-B39A560FC77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5">
            <a:extLst>
              <a:ext uri="{FF2B5EF4-FFF2-40B4-BE49-F238E27FC236}">
                <a16:creationId xmlns:a16="http://schemas.microsoft.com/office/drawing/2014/main" id="{D927F78A-5355-466A-A638-9D9D6D2E83F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Sumayya</a:t>
            </a:r>
          </a:p>
        </p:txBody>
      </p:sp>
      <p:sp>
        <p:nvSpPr>
          <p:cNvPr id="5" name="footer-source-5">
            <a:extLst>
              <a:ext uri="{FF2B5EF4-FFF2-40B4-BE49-F238E27FC236}">
                <a16:creationId xmlns:a16="http://schemas.microsoft.com/office/drawing/2014/main" id="{3CFF6A0C-2A1C-494A-9B19-EE7329664EB8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5">
            <a:extLst>
              <a:ext uri="{FF2B5EF4-FFF2-40B4-BE49-F238E27FC236}">
                <a16:creationId xmlns:a16="http://schemas.microsoft.com/office/drawing/2014/main" id="{E588A188-B758-4348-BC2B-07796D75271C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7" name="s5-side">
            <a:extLst>
              <a:ext uri="{FF2B5EF4-FFF2-40B4-BE49-F238E27FC236}">
                <a16:creationId xmlns:a16="http://schemas.microsoft.com/office/drawing/2014/main" id="{442F2781-E6BB-4FDD-B695-4132B78B3B1A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3429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325" b="1">
                <a:solidFill>
                  <a:srgbClr val="092F2E"/>
                </a:solidFill>
              </a:defRPr>
            </a:pPr>
            <a:r>
              <a:rPr sz="2325" b="1">
                <a:solidFill>
                  <a:srgbClr val="092F2E"/>
                </a:solidFill>
              </a:rPr>
              <a:t>Write the rule once.</a:t>
            </a:r>
          </a:p>
          <a:p>
            <a:pPr algn="l">
              <a:buNone/>
              <a:defRPr sz="2325" b="1">
                <a:solidFill>
                  <a:srgbClr val="092F2E"/>
                </a:solidFill>
              </a:defRPr>
            </a:pPr>
            <a:r>
              <a:rPr sz="2325" b="1">
                <a:solidFill>
                  <a:srgbClr val="092F2E"/>
                </a:solidFill>
              </a:rPr>
              <a:t>Enforce it twice.</a:t>
            </a:r>
          </a:p>
        </p:txBody>
      </p:sp>
      <p:sp>
        <p:nvSpPr>
          <p:cNvPr id="8" name="s5-browser">
            <a:extLst>
              <a:ext uri="{FF2B5EF4-FFF2-40B4-BE49-F238E27FC236}">
                <a16:creationId xmlns:a16="http://schemas.microsoft.com/office/drawing/2014/main" id="{DC5449DD-468B-4E4D-B5B8-AED7B75CE304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2857500" cy="1238250"/>
          </a:xfrm>
          <a:prstGeom prst="roundRect">
            <a:avLst>
              <a:gd name="adj" fmla="val 12308"/>
            </a:avLst>
          </a:prstGeom>
          <a:solidFill>
            <a:srgbClr val="EFFDFB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5-browser-title">
            <a:extLst>
              <a:ext uri="{FF2B5EF4-FFF2-40B4-BE49-F238E27FC236}">
                <a16:creationId xmlns:a16="http://schemas.microsoft.com/office/drawing/2014/main" id="{C318677C-D7C5-4916-BA5E-CD0C74CD0A56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Vue form</a:t>
            </a:r>
          </a:p>
        </p:txBody>
      </p:sp>
      <p:sp>
        <p:nvSpPr>
          <p:cNvPr id="10" name="s5-browser-caption">
            <a:extLst>
              <a:ext uri="{FF2B5EF4-FFF2-40B4-BE49-F238E27FC236}">
                <a16:creationId xmlns:a16="http://schemas.microsoft.com/office/drawing/2014/main" id="{E024DE8C-D6A0-4798-8F0F-D88F6C859B15}"/>
              </a:ext>
            </a:extLst>
          </p:cNvPr>
          <p:cNvSpPr>
            <a:spLocks noGrp="1"/>
          </p:cNvSpPr>
          <p:nvPr/>
        </p:nvSpPr>
        <p:spPr>
          <a:xfrm>
            <a:off x="857250" y="3467100"/>
            <a:ext cx="2514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UForm binds to the create schema</a:t>
            </a:r>
          </a:p>
        </p:txBody>
      </p:sp>
      <p:sp>
        <p:nvSpPr>
          <p:cNvPr id="11" name="s5-contract">
            <a:extLst>
              <a:ext uri="{FF2B5EF4-FFF2-40B4-BE49-F238E27FC236}">
                <a16:creationId xmlns:a16="http://schemas.microsoft.com/office/drawing/2014/main" id="{EA815FFF-5616-496A-9837-F4CD65B09B72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2857500" cy="1162050"/>
          </a:xfrm>
          <a:prstGeom prst="roundRect">
            <a:avLst>
              <a:gd name="adj" fmla="val 13115"/>
            </a:avLst>
          </a:prstGeom>
          <a:solidFill>
            <a:srgbClr val="D7FAF6"/>
          </a:solidFill>
          <a:ln w="9525">
            <a:solidFill>
              <a:srgbClr val="169F9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5-contract-title">
            <a:extLst>
              <a:ext uri="{FF2B5EF4-FFF2-40B4-BE49-F238E27FC236}">
                <a16:creationId xmlns:a16="http://schemas.microsoft.com/office/drawing/2014/main" id="{007B2324-B929-420A-AC0F-36291D4CECC1}"/>
              </a:ext>
            </a:extLst>
          </p:cNvPr>
          <p:cNvSpPr>
            <a:spLocks noGrp="1"/>
          </p:cNvSpPr>
          <p:nvPr/>
        </p:nvSpPr>
        <p:spPr>
          <a:xfrm>
            <a:off x="857250" y="4638675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Shared Zod schema</a:t>
            </a:r>
          </a:p>
        </p:txBody>
      </p:sp>
      <p:sp>
        <p:nvSpPr>
          <p:cNvPr id="13" name="s5-contract-caption">
            <a:extLst>
              <a:ext uri="{FF2B5EF4-FFF2-40B4-BE49-F238E27FC236}">
                <a16:creationId xmlns:a16="http://schemas.microsoft.com/office/drawing/2014/main" id="{369C681E-C606-4011-8152-A4884D385854}"/>
              </a:ext>
            </a:extLst>
          </p:cNvPr>
          <p:cNvSpPr>
            <a:spLocks noGrp="1"/>
          </p:cNvSpPr>
          <p:nvPr/>
        </p:nvSpPr>
        <p:spPr>
          <a:xfrm>
            <a:off x="857250" y="4991100"/>
            <a:ext cx="2514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datasetCreateSchema</a:t>
            </a:r>
          </a:p>
        </p:txBody>
      </p:sp>
      <p:sp>
        <p:nvSpPr>
          <p:cNvPr id="14" name="s5-server">
            <a:extLst>
              <a:ext uri="{FF2B5EF4-FFF2-40B4-BE49-F238E27FC236}">
                <a16:creationId xmlns:a16="http://schemas.microsoft.com/office/drawing/2014/main" id="{13984665-1EC7-446D-B759-BA2D770E3591}"/>
              </a:ext>
            </a:extLst>
          </p:cNvPr>
          <p:cNvSpPr>
            <a:spLocks noGrp="1"/>
          </p:cNvSpPr>
          <p:nvPr/>
        </p:nvSpPr>
        <p:spPr>
          <a:xfrm>
            <a:off x="3790950" y="3714750"/>
            <a:ext cx="270510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5-server-title">
            <a:extLst>
              <a:ext uri="{FF2B5EF4-FFF2-40B4-BE49-F238E27FC236}">
                <a16:creationId xmlns:a16="http://schemas.microsoft.com/office/drawing/2014/main" id="{B5B11081-2B09-4615-AFDF-CB5F6E0B0BAD}"/>
              </a:ext>
            </a:extLst>
          </p:cNvPr>
          <p:cNvSpPr>
            <a:spLocks noGrp="1"/>
          </p:cNvSpPr>
          <p:nvPr/>
        </p:nvSpPr>
        <p:spPr>
          <a:xfrm>
            <a:off x="3962400" y="3876675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Nitro handler</a:t>
            </a:r>
          </a:p>
        </p:txBody>
      </p:sp>
      <p:sp>
        <p:nvSpPr>
          <p:cNvPr id="16" name="s5-server-caption">
            <a:extLst>
              <a:ext uri="{FF2B5EF4-FFF2-40B4-BE49-F238E27FC236}">
                <a16:creationId xmlns:a16="http://schemas.microsoft.com/office/drawing/2014/main" id="{509835A3-CC29-4656-B3C8-90887EDEAD0A}"/>
              </a:ext>
            </a:extLst>
          </p:cNvPr>
          <p:cNvSpPr>
            <a:spLocks noGrp="1"/>
          </p:cNvSpPr>
          <p:nvPr/>
        </p:nvSpPr>
        <p:spPr>
          <a:xfrm>
            <a:off x="3962400" y="4229100"/>
            <a:ext cx="2362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safeParse before persistence</a:t>
            </a:r>
          </a:p>
        </p:txBody>
      </p:sp>
      <p:cxnSp>
        <p:nvCxnSpPr>
          <p:cNvPr id="65" name="Straight Arrow Connector 43"/>
          <p:cNvCxnSpPr>
            <a:stCxn id="8" idx="2"/>
            <a:endCxn id="11" idx="0"/>
          </p:cNvCxnSpPr>
          <p:nvPr/>
        </p:nvCxnSpPr>
        <p:spPr>
          <a:xfrm>
            <a:off x="2114550" y="4191000"/>
            <a:ext cx="0" cy="285750"/>
          </a:xfrm>
          <a:prstGeom prst="straightConnector1">
            <a:avLst/>
          </a:prstGeom>
          <a:ln w="19050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66" name="Straight Arrow Connector 44"/>
          <p:cNvCxnSpPr>
            <a:stCxn id="11" idx="3"/>
            <a:endCxn id="14" idx="1"/>
          </p:cNvCxnSpPr>
          <p:nvPr/>
        </p:nvCxnSpPr>
        <p:spPr>
          <a:xfrm flipV="1">
            <a:off x="3543300" y="4333875"/>
            <a:ext cx="247650" cy="723900"/>
          </a:xfrm>
          <a:prstGeom prst="straightConnector1">
            <a:avLst/>
          </a:prstGeom>
          <a:ln w="19050">
            <a:solidFill>
              <a:srgbClr val="169F96"/>
            </a:solidFill>
            <a:prstDash val="solid"/>
            <a:tailEnd type="triangle" w="sm" len="sm"/>
          </a:ln>
        </p:spPr>
      </p:cxnSp>
      <p:sp>
        <p:nvSpPr>
          <p:cNvPr id="19" name="code-frame-5">
            <a:extLst>
              <a:ext uri="{FF2B5EF4-FFF2-40B4-BE49-F238E27FC236}">
                <a16:creationId xmlns:a16="http://schemas.microsoft.com/office/drawing/2014/main" id="{E086B34E-A1C6-4747-B72E-68A2FBBC8D3C}"/>
              </a:ext>
            </a:extLst>
          </p:cNvPr>
          <p:cNvSpPr>
            <a:spLocks noGrp="1"/>
          </p:cNvSpPr>
          <p:nvPr/>
        </p:nvSpPr>
        <p:spPr>
          <a:xfrm>
            <a:off x="6877050" y="1447800"/>
            <a:ext cx="4629150" cy="4476750"/>
          </a:xfrm>
          <a:prstGeom prst="roundRect">
            <a:avLst>
              <a:gd name="adj" fmla="val 4255"/>
            </a:avLst>
          </a:prstGeom>
          <a:solidFill>
            <a:srgbClr val="0F172A"/>
          </a:solidFill>
          <a:ln w="9525">
            <a:solidFill>
              <a:srgbClr val="2432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0" name="code-dot-a-5">
            <a:extLst>
              <a:ext uri="{FF2B5EF4-FFF2-40B4-BE49-F238E27FC236}">
                <a16:creationId xmlns:a16="http://schemas.microsoft.com/office/drawing/2014/main" id="{48EBAB69-771C-4C42-97C2-DAF142C5DAEB}"/>
              </a:ext>
            </a:extLst>
          </p:cNvPr>
          <p:cNvSpPr>
            <a:spLocks noGrp="1"/>
          </p:cNvSpPr>
          <p:nvPr/>
        </p:nvSpPr>
        <p:spPr>
          <a:xfrm>
            <a:off x="7067550" y="161925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21" name="code-dot-b-5">
            <a:extLst>
              <a:ext uri="{FF2B5EF4-FFF2-40B4-BE49-F238E27FC236}">
                <a16:creationId xmlns:a16="http://schemas.microsoft.com/office/drawing/2014/main" id="{C2B2340A-4015-48FA-8733-140F9FEDA797}"/>
              </a:ext>
            </a:extLst>
          </p:cNvPr>
          <p:cNvSpPr>
            <a:spLocks noGrp="1"/>
          </p:cNvSpPr>
          <p:nvPr/>
        </p:nvSpPr>
        <p:spPr>
          <a:xfrm>
            <a:off x="7219950" y="161925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code-dot-c-5">
            <a:extLst>
              <a:ext uri="{FF2B5EF4-FFF2-40B4-BE49-F238E27FC236}">
                <a16:creationId xmlns:a16="http://schemas.microsoft.com/office/drawing/2014/main" id="{C9304937-558E-4242-91F9-F5CA5B1A11C5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3" name="code-label-5">
            <a:extLst>
              <a:ext uri="{FF2B5EF4-FFF2-40B4-BE49-F238E27FC236}">
                <a16:creationId xmlns:a16="http://schemas.microsoft.com/office/drawing/2014/main" id="{E146A5BF-93FF-4032-974F-8B77D8C6064F}"/>
              </a:ext>
            </a:extLst>
          </p:cNvPr>
          <p:cNvSpPr>
            <a:spLocks noGrp="1"/>
          </p:cNvSpPr>
          <p:nvPr/>
        </p:nvSpPr>
        <p:spPr>
          <a:xfrm>
            <a:off x="7620000" y="1571625"/>
            <a:ext cx="3695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24" name="code-inner-5">
            <a:extLst>
              <a:ext uri="{FF2B5EF4-FFF2-40B4-BE49-F238E27FC236}">
                <a16:creationId xmlns:a16="http://schemas.microsoft.com/office/drawing/2014/main" id="{97EFDC9A-B910-4077-95FC-51ECE4110F7D}"/>
              </a:ext>
            </a:extLst>
          </p:cNvPr>
          <p:cNvSpPr>
            <a:spLocks noGrp="1"/>
          </p:cNvSpPr>
          <p:nvPr/>
        </p:nvSpPr>
        <p:spPr>
          <a:xfrm>
            <a:off x="7048500" y="1924050"/>
            <a:ext cx="4286250" cy="3810000"/>
          </a:xfrm>
          <a:prstGeom prst="roundRect">
            <a:avLst>
              <a:gd name="adj" fmla="val 3000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sp>
        <p:nvSpPr>
          <p:cNvPr id="27" name="s5-note">
            <a:extLst>
              <a:ext uri="{FF2B5EF4-FFF2-40B4-BE49-F238E27FC236}">
                <a16:creationId xmlns:a16="http://schemas.microsoft.com/office/drawing/2014/main" id="{65CE1933-FEC8-4CDF-A9B7-9068E903F034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581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IDs, owner IDs and timestamps stay server-assigned.</a:t>
            </a: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31204" y="2000250"/>
            <a:ext cx="3120842" cy="1504950"/>
          </a:xfrm>
          <a:prstGeom prst="roundRect">
            <a:avLst>
              <a:gd name="adj" fmla="val 2532"/>
            </a:avLst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79363" y="3581400"/>
            <a:ext cx="1824523" cy="742950"/>
          </a:xfrm>
          <a:prstGeom prst="roundRect">
            <a:avLst>
              <a:gd name="adj" fmla="val 5128"/>
            </a:avLst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604667" y="4400550"/>
            <a:ext cx="3173916" cy="1257300"/>
          </a:xfrm>
          <a:prstGeom prst="roundRect">
            <a:avLst>
              <a:gd name="adj" fmla="val 3030"/>
            </a:avLst>
          </a:prstGeom>
        </p:spPr>
      </p:pic>
    </p:spTree>
    <p:extLst>
      <p:ext uri="{BB962C8B-B14F-4D97-AF65-F5344CB8AC3E}">
        <p14:creationId xmlns:p14="http://schemas.microsoft.com/office/powerpoint/2010/main" val="1746362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yebrow-6">
            <a:extLst>
              <a:ext uri="{FF2B5EF4-FFF2-40B4-BE49-F238E27FC236}">
                <a16:creationId xmlns:a16="http://schemas.microsoft.com/office/drawing/2014/main" id="{4A740B90-340B-4993-9B18-0ECA480E38B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B8E3C43B-7E6A-4CC7-9E73-191C6861C73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Live flow: one upload crosses the full Nuxt stack</a:t>
            </a:r>
          </a:p>
        </p:txBody>
      </p:sp>
      <p:sp>
        <p:nvSpPr>
          <p:cNvPr id="3" name="footer-rule-6">
            <a:extLst>
              <a:ext uri="{FF2B5EF4-FFF2-40B4-BE49-F238E27FC236}">
                <a16:creationId xmlns:a16="http://schemas.microsoft.com/office/drawing/2014/main" id="{6EED7C27-D78C-465A-AFE4-912D4A0D9CC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6">
            <a:extLst>
              <a:ext uri="{FF2B5EF4-FFF2-40B4-BE49-F238E27FC236}">
                <a16:creationId xmlns:a16="http://schemas.microsoft.com/office/drawing/2014/main" id="{049141C3-7FFC-4CED-98C8-5ACF414B460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Sumayya</a:t>
            </a:r>
          </a:p>
        </p:txBody>
      </p:sp>
      <p:sp>
        <p:nvSpPr>
          <p:cNvPr id="5" name="footer-source-6">
            <a:extLst>
              <a:ext uri="{FF2B5EF4-FFF2-40B4-BE49-F238E27FC236}">
                <a16:creationId xmlns:a16="http://schemas.microsoft.com/office/drawing/2014/main" id="{741CED20-B129-4AD1-91E7-426E94A3A405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6">
            <a:extLst>
              <a:ext uri="{FF2B5EF4-FFF2-40B4-BE49-F238E27FC236}">
                <a16:creationId xmlns:a16="http://schemas.microsoft.com/office/drawing/2014/main" id="{2A935F68-3E51-41E1-9AE1-70B241998AE0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7" name="s6-sub">
            <a:extLst>
              <a:ext uri="{FF2B5EF4-FFF2-40B4-BE49-F238E27FC236}">
                <a16:creationId xmlns:a16="http://schemas.microsoft.com/office/drawing/2014/main" id="{35FEA4CC-B96B-4E81-97F3-EF3AEFFC77CB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704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The feature is the round trip—not any single file.</a:t>
            </a:r>
          </a:p>
        </p:txBody>
      </p:sp>
      <p:sp>
        <p:nvSpPr>
          <p:cNvPr id="8" name="s6-step-0">
            <a:extLst>
              <a:ext uri="{FF2B5EF4-FFF2-40B4-BE49-F238E27FC236}">
                <a16:creationId xmlns:a16="http://schemas.microsoft.com/office/drawing/2014/main" id="{BDB460BD-38FA-474D-ABC7-E65C08BA0FB1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EFFDFB"/>
          </a:solidFill>
          <a:ln w="9525">
            <a:solidFill>
              <a:srgbClr val="ABD8D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6-step-0-title">
            <a:extLst>
              <a:ext uri="{FF2B5EF4-FFF2-40B4-BE49-F238E27FC236}">
                <a16:creationId xmlns:a16="http://schemas.microsoft.com/office/drawing/2014/main" id="{FE0F44EC-F74B-4440-BB19-D6ACD7A6AFAD}"/>
              </a:ext>
            </a:extLst>
          </p:cNvPr>
          <p:cNvSpPr>
            <a:spLocks noGrp="1"/>
          </p:cNvSpPr>
          <p:nvPr/>
        </p:nvSpPr>
        <p:spPr>
          <a:xfrm>
            <a:off x="8572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092F2E"/>
                </a:solidFill>
              </a:defRPr>
            </a:pPr>
            <a:r>
              <a:rPr sz="1425" b="1">
                <a:solidFill>
                  <a:srgbClr val="092F2E"/>
                </a:solidFill>
              </a:rPr>
              <a:t>OWNER</a:t>
            </a:r>
          </a:p>
        </p:txBody>
      </p:sp>
      <p:sp>
        <p:nvSpPr>
          <p:cNvPr id="10" name="s6-step-0-caption">
            <a:extLst>
              <a:ext uri="{FF2B5EF4-FFF2-40B4-BE49-F238E27FC236}">
                <a16:creationId xmlns:a16="http://schemas.microsoft.com/office/drawing/2014/main" id="{FD162044-BB8E-48DD-892C-AB6ECA113E5D}"/>
              </a:ext>
            </a:extLst>
          </p:cNvPr>
          <p:cNvSpPr>
            <a:spLocks noGrp="1"/>
          </p:cNvSpPr>
          <p:nvPr/>
        </p:nvSpPr>
        <p:spPr>
          <a:xfrm>
            <a:off x="8572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chooses CSV</a:t>
            </a:r>
          </a:p>
        </p:txBody>
      </p:sp>
      <p:sp>
        <p:nvSpPr>
          <p:cNvPr id="11" name="s6-num-bg-0">
            <a:extLst>
              <a:ext uri="{FF2B5EF4-FFF2-40B4-BE49-F238E27FC236}">
                <a16:creationId xmlns:a16="http://schemas.microsoft.com/office/drawing/2014/main" id="{0201DD69-C106-41C2-944E-CF0F92993A7A}"/>
              </a:ext>
            </a:extLst>
          </p:cNvPr>
          <p:cNvSpPr>
            <a:spLocks noGrp="1"/>
          </p:cNvSpPr>
          <p:nvPr/>
        </p:nvSpPr>
        <p:spPr>
          <a:xfrm>
            <a:off x="1333500" y="2266950"/>
            <a:ext cx="457200" cy="4572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2" name="s6-num-0">
            <a:extLst>
              <a:ext uri="{FF2B5EF4-FFF2-40B4-BE49-F238E27FC236}">
                <a16:creationId xmlns:a16="http://schemas.microsoft.com/office/drawing/2014/main" id="{93F2D066-3123-4028-AEB7-D54D12C2A37F}"/>
              </a:ext>
            </a:extLst>
          </p:cNvPr>
          <p:cNvSpPr>
            <a:spLocks noGrp="1"/>
          </p:cNvSpPr>
          <p:nvPr/>
        </p:nvSpPr>
        <p:spPr>
          <a:xfrm>
            <a:off x="13335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1</a:t>
            </a:r>
          </a:p>
        </p:txBody>
      </p:sp>
      <p:sp>
        <p:nvSpPr>
          <p:cNvPr id="13" name="s6-step-1">
            <a:extLst>
              <a:ext uri="{FF2B5EF4-FFF2-40B4-BE49-F238E27FC236}">
                <a16:creationId xmlns:a16="http://schemas.microsoft.com/office/drawing/2014/main" id="{8077E03B-A7F6-4D4D-8A6B-6E033137E565}"/>
              </a:ext>
            </a:extLst>
          </p:cNvPr>
          <p:cNvSpPr>
            <a:spLocks noGrp="1"/>
          </p:cNvSpPr>
          <p:nvPr/>
        </p:nvSpPr>
        <p:spPr>
          <a:xfrm>
            <a:off x="28575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EFFDFB"/>
          </a:solidFill>
          <a:ln w="9525">
            <a:solidFill>
              <a:srgbClr val="ABD8D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s6-step-1-title">
            <a:extLst>
              <a:ext uri="{FF2B5EF4-FFF2-40B4-BE49-F238E27FC236}">
                <a16:creationId xmlns:a16="http://schemas.microsoft.com/office/drawing/2014/main" id="{C5D36967-76CB-4A49-9DEC-3E77105ACA76}"/>
              </a:ext>
            </a:extLst>
          </p:cNvPr>
          <p:cNvSpPr>
            <a:spLocks noGrp="1"/>
          </p:cNvSpPr>
          <p:nvPr/>
        </p:nvSpPr>
        <p:spPr>
          <a:xfrm>
            <a:off x="30289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092F2E"/>
                </a:solidFill>
              </a:defRPr>
            </a:pPr>
            <a:r>
              <a:rPr sz="1425" b="1">
                <a:solidFill>
                  <a:srgbClr val="092F2E"/>
                </a:solidFill>
              </a:rPr>
              <a:t>VUE</a:t>
            </a:r>
          </a:p>
        </p:txBody>
      </p:sp>
      <p:sp>
        <p:nvSpPr>
          <p:cNvPr id="15" name="s6-step-1-caption">
            <a:extLst>
              <a:ext uri="{FF2B5EF4-FFF2-40B4-BE49-F238E27FC236}">
                <a16:creationId xmlns:a16="http://schemas.microsoft.com/office/drawing/2014/main" id="{ACB75707-5712-480E-89E4-65A05B00B953}"/>
              </a:ext>
            </a:extLst>
          </p:cNvPr>
          <p:cNvSpPr>
            <a:spLocks noGrp="1"/>
          </p:cNvSpPr>
          <p:nvPr/>
        </p:nvSpPr>
        <p:spPr>
          <a:xfrm>
            <a:off x="30289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$fetch on submit</a:t>
            </a:r>
          </a:p>
        </p:txBody>
      </p:sp>
      <p:sp>
        <p:nvSpPr>
          <p:cNvPr id="16" name="s6-num-bg-1">
            <a:extLst>
              <a:ext uri="{FF2B5EF4-FFF2-40B4-BE49-F238E27FC236}">
                <a16:creationId xmlns:a16="http://schemas.microsoft.com/office/drawing/2014/main" id="{A5D729D6-2A0F-42EE-9E52-3E697C6B3A92}"/>
              </a:ext>
            </a:extLst>
          </p:cNvPr>
          <p:cNvSpPr>
            <a:spLocks noGrp="1"/>
          </p:cNvSpPr>
          <p:nvPr/>
        </p:nvSpPr>
        <p:spPr>
          <a:xfrm>
            <a:off x="3505200" y="2266950"/>
            <a:ext cx="457200" cy="4572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7" name="s6-num-1">
            <a:extLst>
              <a:ext uri="{FF2B5EF4-FFF2-40B4-BE49-F238E27FC236}">
                <a16:creationId xmlns:a16="http://schemas.microsoft.com/office/drawing/2014/main" id="{04B09E3C-152F-4878-88A6-D74F3AFA86F3}"/>
              </a:ext>
            </a:extLst>
          </p:cNvPr>
          <p:cNvSpPr>
            <a:spLocks noGrp="1"/>
          </p:cNvSpPr>
          <p:nvPr/>
        </p:nvSpPr>
        <p:spPr>
          <a:xfrm>
            <a:off x="35052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2</a:t>
            </a:r>
          </a:p>
        </p:txBody>
      </p:sp>
      <p:sp>
        <p:nvSpPr>
          <p:cNvPr id="18" name="s6-step-2">
            <a:extLst>
              <a:ext uri="{FF2B5EF4-FFF2-40B4-BE49-F238E27FC236}">
                <a16:creationId xmlns:a16="http://schemas.microsoft.com/office/drawing/2014/main" id="{D962F71B-631E-489C-85CD-FA001D2C6CFC}"/>
              </a:ext>
            </a:extLst>
          </p:cNvPr>
          <p:cNvSpPr>
            <a:spLocks noGrp="1"/>
          </p:cNvSpPr>
          <p:nvPr/>
        </p:nvSpPr>
        <p:spPr>
          <a:xfrm>
            <a:off x="50292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s6-step-2-title">
            <a:extLst>
              <a:ext uri="{FF2B5EF4-FFF2-40B4-BE49-F238E27FC236}">
                <a16:creationId xmlns:a16="http://schemas.microsoft.com/office/drawing/2014/main" id="{3369ADDE-2DE8-4CE8-B848-BE49F71FC5A4}"/>
              </a:ext>
            </a:extLst>
          </p:cNvPr>
          <p:cNvSpPr>
            <a:spLocks noGrp="1"/>
          </p:cNvSpPr>
          <p:nvPr/>
        </p:nvSpPr>
        <p:spPr>
          <a:xfrm>
            <a:off x="52006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NITRO</a:t>
            </a:r>
          </a:p>
        </p:txBody>
      </p:sp>
      <p:sp>
        <p:nvSpPr>
          <p:cNvPr id="20" name="s6-step-2-caption">
            <a:extLst>
              <a:ext uri="{FF2B5EF4-FFF2-40B4-BE49-F238E27FC236}">
                <a16:creationId xmlns:a16="http://schemas.microsoft.com/office/drawing/2014/main" id="{327B42EC-71F1-4EBC-8128-924C52893DCC}"/>
              </a:ext>
            </a:extLst>
          </p:cNvPr>
          <p:cNvSpPr>
            <a:spLocks noGrp="1"/>
          </p:cNvSpPr>
          <p:nvPr/>
        </p:nvSpPr>
        <p:spPr>
          <a:xfrm>
            <a:off x="52006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auth + Zod + CSV</a:t>
            </a:r>
          </a:p>
        </p:txBody>
      </p:sp>
      <p:sp>
        <p:nvSpPr>
          <p:cNvPr id="21" name="s6-num-bg-2">
            <a:extLst>
              <a:ext uri="{FF2B5EF4-FFF2-40B4-BE49-F238E27FC236}">
                <a16:creationId xmlns:a16="http://schemas.microsoft.com/office/drawing/2014/main" id="{1B61C0BE-8833-476C-92B1-FA661C4023C0}"/>
              </a:ext>
            </a:extLst>
          </p:cNvPr>
          <p:cNvSpPr>
            <a:spLocks noGrp="1"/>
          </p:cNvSpPr>
          <p:nvPr/>
        </p:nvSpPr>
        <p:spPr>
          <a:xfrm>
            <a:off x="5676900" y="2266950"/>
            <a:ext cx="457200" cy="45720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s6-num-2">
            <a:extLst>
              <a:ext uri="{FF2B5EF4-FFF2-40B4-BE49-F238E27FC236}">
                <a16:creationId xmlns:a16="http://schemas.microsoft.com/office/drawing/2014/main" id="{DC8D4919-027F-488A-984D-241261838ABB}"/>
              </a:ext>
            </a:extLst>
          </p:cNvPr>
          <p:cNvSpPr>
            <a:spLocks noGrp="1"/>
          </p:cNvSpPr>
          <p:nvPr/>
        </p:nvSpPr>
        <p:spPr>
          <a:xfrm>
            <a:off x="56769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3</a:t>
            </a:r>
          </a:p>
        </p:txBody>
      </p:sp>
      <p:sp>
        <p:nvSpPr>
          <p:cNvPr id="23" name="s6-step-3">
            <a:extLst>
              <a:ext uri="{FF2B5EF4-FFF2-40B4-BE49-F238E27FC236}">
                <a16:creationId xmlns:a16="http://schemas.microsoft.com/office/drawing/2014/main" id="{9E0BF2DB-CFD1-4A65-B604-1DA1B962E099}"/>
              </a:ext>
            </a:extLst>
          </p:cNvPr>
          <p:cNvSpPr>
            <a:spLocks noGrp="1"/>
          </p:cNvSpPr>
          <p:nvPr/>
        </p:nvSpPr>
        <p:spPr>
          <a:xfrm>
            <a:off x="72009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EFFDFB"/>
          </a:solidFill>
          <a:ln w="9525">
            <a:solidFill>
              <a:srgbClr val="ABD8D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s6-step-3-title">
            <a:extLst>
              <a:ext uri="{FF2B5EF4-FFF2-40B4-BE49-F238E27FC236}">
                <a16:creationId xmlns:a16="http://schemas.microsoft.com/office/drawing/2014/main" id="{03674C09-225D-4596-A8F0-41244016FD70}"/>
              </a:ext>
            </a:extLst>
          </p:cNvPr>
          <p:cNvSpPr>
            <a:spLocks noGrp="1"/>
          </p:cNvSpPr>
          <p:nvPr/>
        </p:nvSpPr>
        <p:spPr>
          <a:xfrm>
            <a:off x="73723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092F2E"/>
                </a:solidFill>
              </a:defRPr>
            </a:pPr>
            <a:r>
              <a:rPr sz="1425" b="1">
                <a:solidFill>
                  <a:srgbClr val="092F2E"/>
                </a:solidFill>
              </a:rPr>
              <a:t>MONGODB</a:t>
            </a:r>
          </a:p>
        </p:txBody>
      </p:sp>
      <p:sp>
        <p:nvSpPr>
          <p:cNvPr id="25" name="s6-step-3-caption">
            <a:extLst>
              <a:ext uri="{FF2B5EF4-FFF2-40B4-BE49-F238E27FC236}">
                <a16:creationId xmlns:a16="http://schemas.microsoft.com/office/drawing/2014/main" id="{16A58579-5A1C-41C4-97D3-87CB978E133A}"/>
              </a:ext>
            </a:extLst>
          </p:cNvPr>
          <p:cNvSpPr>
            <a:spLocks noGrp="1"/>
          </p:cNvSpPr>
          <p:nvPr/>
        </p:nvSpPr>
        <p:spPr>
          <a:xfrm>
            <a:off x="73723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data set + rows + version</a:t>
            </a:r>
          </a:p>
        </p:txBody>
      </p:sp>
      <p:sp>
        <p:nvSpPr>
          <p:cNvPr id="26" name="s6-num-bg-3">
            <a:extLst>
              <a:ext uri="{FF2B5EF4-FFF2-40B4-BE49-F238E27FC236}">
                <a16:creationId xmlns:a16="http://schemas.microsoft.com/office/drawing/2014/main" id="{1942EF59-F56E-4F62-994F-E578362793E9}"/>
              </a:ext>
            </a:extLst>
          </p:cNvPr>
          <p:cNvSpPr>
            <a:spLocks noGrp="1"/>
          </p:cNvSpPr>
          <p:nvPr/>
        </p:nvSpPr>
        <p:spPr>
          <a:xfrm>
            <a:off x="7848600" y="2266950"/>
            <a:ext cx="457200" cy="4572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7" name="s6-num-3">
            <a:extLst>
              <a:ext uri="{FF2B5EF4-FFF2-40B4-BE49-F238E27FC236}">
                <a16:creationId xmlns:a16="http://schemas.microsoft.com/office/drawing/2014/main" id="{8554E89F-4962-45A7-AB53-4BD5CA36FAE8}"/>
              </a:ext>
            </a:extLst>
          </p:cNvPr>
          <p:cNvSpPr>
            <a:spLocks noGrp="1"/>
          </p:cNvSpPr>
          <p:nvPr/>
        </p:nvSpPr>
        <p:spPr>
          <a:xfrm>
            <a:off x="78486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4</a:t>
            </a:r>
          </a:p>
        </p:txBody>
      </p:sp>
      <p:sp>
        <p:nvSpPr>
          <p:cNvPr id="28" name="s6-step-4">
            <a:extLst>
              <a:ext uri="{FF2B5EF4-FFF2-40B4-BE49-F238E27FC236}">
                <a16:creationId xmlns:a16="http://schemas.microsoft.com/office/drawing/2014/main" id="{1E77718F-992B-4DA2-A333-592CEE77769F}"/>
              </a:ext>
            </a:extLst>
          </p:cNvPr>
          <p:cNvSpPr>
            <a:spLocks noGrp="1"/>
          </p:cNvSpPr>
          <p:nvPr/>
        </p:nvSpPr>
        <p:spPr>
          <a:xfrm>
            <a:off x="93726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EFFDFB"/>
          </a:solidFill>
          <a:ln w="9525">
            <a:solidFill>
              <a:srgbClr val="ABD8D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s6-step-4-title">
            <a:extLst>
              <a:ext uri="{FF2B5EF4-FFF2-40B4-BE49-F238E27FC236}">
                <a16:creationId xmlns:a16="http://schemas.microsoft.com/office/drawing/2014/main" id="{ABCDC693-0C31-4E67-9A1F-40933ACB83B9}"/>
              </a:ext>
            </a:extLst>
          </p:cNvPr>
          <p:cNvSpPr>
            <a:spLocks noGrp="1"/>
          </p:cNvSpPr>
          <p:nvPr/>
        </p:nvSpPr>
        <p:spPr>
          <a:xfrm>
            <a:off x="95440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092F2E"/>
                </a:solidFill>
              </a:defRPr>
            </a:pPr>
            <a:r>
              <a:rPr sz="1425" b="1">
                <a:solidFill>
                  <a:srgbClr val="092F2E"/>
                </a:solidFill>
              </a:rPr>
              <a:t>UI</a:t>
            </a:r>
          </a:p>
        </p:txBody>
      </p:sp>
      <p:sp>
        <p:nvSpPr>
          <p:cNvPr id="30" name="s6-step-4-caption">
            <a:extLst>
              <a:ext uri="{FF2B5EF4-FFF2-40B4-BE49-F238E27FC236}">
                <a16:creationId xmlns:a16="http://schemas.microsoft.com/office/drawing/2014/main" id="{9295C34C-3A12-4473-B6C2-1415CE9A257E}"/>
              </a:ext>
            </a:extLst>
          </p:cNvPr>
          <p:cNvSpPr>
            <a:spLocks noGrp="1"/>
          </p:cNvSpPr>
          <p:nvPr/>
        </p:nvSpPr>
        <p:spPr>
          <a:xfrm>
            <a:off x="95440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refreshes the owner view</a:t>
            </a:r>
          </a:p>
        </p:txBody>
      </p:sp>
      <p:sp>
        <p:nvSpPr>
          <p:cNvPr id="31" name="s6-num-bg-4">
            <a:extLst>
              <a:ext uri="{FF2B5EF4-FFF2-40B4-BE49-F238E27FC236}">
                <a16:creationId xmlns:a16="http://schemas.microsoft.com/office/drawing/2014/main" id="{3C8BE567-4FDD-44CE-96FB-7296982F9BFD}"/>
              </a:ext>
            </a:extLst>
          </p:cNvPr>
          <p:cNvSpPr>
            <a:spLocks noGrp="1"/>
          </p:cNvSpPr>
          <p:nvPr/>
        </p:nvSpPr>
        <p:spPr>
          <a:xfrm>
            <a:off x="10020300" y="2266950"/>
            <a:ext cx="457200" cy="4572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32" name="s6-num-4">
            <a:extLst>
              <a:ext uri="{FF2B5EF4-FFF2-40B4-BE49-F238E27FC236}">
                <a16:creationId xmlns:a16="http://schemas.microsoft.com/office/drawing/2014/main" id="{E2B3FABB-BA40-4502-B104-BD593B7FB6D6}"/>
              </a:ext>
            </a:extLst>
          </p:cNvPr>
          <p:cNvSpPr>
            <a:spLocks noGrp="1"/>
          </p:cNvSpPr>
          <p:nvPr/>
        </p:nvSpPr>
        <p:spPr>
          <a:xfrm>
            <a:off x="100203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5</a:t>
            </a:r>
          </a:p>
        </p:txBody>
      </p:sp>
      <p:cxnSp>
        <p:nvCxnSpPr>
          <p:cNvPr id="108" name="Straight Arrow Connector 71"/>
          <p:cNvCxnSpPr>
            <a:stCxn id="8" idx="3"/>
            <a:endCxn id="13" idx="1"/>
          </p:cNvCxnSpPr>
          <p:nvPr/>
        </p:nvCxnSpPr>
        <p:spPr>
          <a:xfrm>
            <a:off x="2438400" y="3467100"/>
            <a:ext cx="419100" cy="0"/>
          </a:xfrm>
          <a:prstGeom prst="straightConnector1">
            <a:avLst/>
          </a:prstGeom>
          <a:ln w="23813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109" name="Straight Arrow Connector 72"/>
          <p:cNvCxnSpPr>
            <a:stCxn id="13" idx="3"/>
            <a:endCxn id="18" idx="1"/>
          </p:cNvCxnSpPr>
          <p:nvPr/>
        </p:nvCxnSpPr>
        <p:spPr>
          <a:xfrm>
            <a:off x="4610100" y="3467100"/>
            <a:ext cx="419100" cy="0"/>
          </a:xfrm>
          <a:prstGeom prst="straightConnector1">
            <a:avLst/>
          </a:prstGeom>
          <a:ln w="23813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110" name="Straight Arrow Connector 73"/>
          <p:cNvCxnSpPr>
            <a:stCxn id="18" idx="3"/>
            <a:endCxn id="23" idx="1"/>
          </p:cNvCxnSpPr>
          <p:nvPr/>
        </p:nvCxnSpPr>
        <p:spPr>
          <a:xfrm>
            <a:off x="6781800" y="3467100"/>
            <a:ext cx="419100" cy="0"/>
          </a:xfrm>
          <a:prstGeom prst="straightConnector1">
            <a:avLst/>
          </a:prstGeom>
          <a:ln w="23813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111" name="Straight Arrow Connector 74"/>
          <p:cNvCxnSpPr>
            <a:stCxn id="23" idx="3"/>
            <a:endCxn id="28" idx="1"/>
          </p:cNvCxnSpPr>
          <p:nvPr/>
        </p:nvCxnSpPr>
        <p:spPr>
          <a:xfrm>
            <a:off x="8953500" y="3467100"/>
            <a:ext cx="419100" cy="0"/>
          </a:xfrm>
          <a:prstGeom prst="straightConnector1">
            <a:avLst/>
          </a:prstGeom>
          <a:ln w="23813">
            <a:solidFill>
              <a:srgbClr val="169F96"/>
            </a:solidFill>
            <a:prstDash val="solid"/>
            <a:tailEnd type="triangle" w="sm" len="sm"/>
          </a:ln>
        </p:spPr>
      </p:cxnSp>
      <p:sp>
        <p:nvSpPr>
          <p:cNvPr id="37" name="s6-band">
            <a:extLst>
              <a:ext uri="{FF2B5EF4-FFF2-40B4-BE49-F238E27FC236}">
                <a16:creationId xmlns:a16="http://schemas.microsoft.com/office/drawing/2014/main" id="{A98A61D7-FB92-4E5F-9BC2-5F03376A46A9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10439400" cy="685800"/>
          </a:xfrm>
          <a:prstGeom prst="roundRect">
            <a:avLst>
              <a:gd name="adj" fmla="val 22222"/>
            </a:avLst>
          </a:prstGeom>
          <a:solidFill>
            <a:srgbClr val="D7FAF6"/>
          </a:solidFill>
          <a:ln w="0">
            <a:noFill/>
            <a:prstDash val="solid"/>
          </a:ln>
        </p:spPr>
      </p:sp>
      <p:sp>
        <p:nvSpPr>
          <p:cNvPr id="38" name="s6-band-title">
            <a:extLst>
              <a:ext uri="{FF2B5EF4-FFF2-40B4-BE49-F238E27FC236}">
                <a16:creationId xmlns:a16="http://schemas.microsoft.com/office/drawing/2014/main" id="{5792DB27-5D23-4DCA-95D2-C720E94DCB7C}"/>
              </a:ext>
            </a:extLst>
          </p:cNvPr>
          <p:cNvSpPr>
            <a:spLocks noGrp="1"/>
          </p:cNvSpPr>
          <p:nvPr/>
        </p:nvSpPr>
        <p:spPr>
          <a:xfrm>
            <a:off x="914400" y="4991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Why this proves full-stack understanding</a:t>
            </a:r>
          </a:p>
        </p:txBody>
      </p:sp>
      <p:sp>
        <p:nvSpPr>
          <p:cNvPr id="39" name="s6-band-copy">
            <a:extLst>
              <a:ext uri="{FF2B5EF4-FFF2-40B4-BE49-F238E27FC236}">
                <a16:creationId xmlns:a16="http://schemas.microsoft.com/office/drawing/2014/main" id="{581420A6-C4E7-4D76-BF64-4D1117694D09}"/>
              </a:ext>
            </a:extLst>
          </p:cNvPr>
          <p:cNvSpPr>
            <a:spLocks noGrp="1"/>
          </p:cNvSpPr>
          <p:nvPr/>
        </p:nvSpPr>
        <p:spPr>
          <a:xfrm>
            <a:off x="4476750" y="4991100"/>
            <a:ext cx="638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Every boundary preserves ownership, validation and a typed response back to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606965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-7">
            <a:extLst>
              <a:ext uri="{FF2B5EF4-FFF2-40B4-BE49-F238E27FC236}">
                <a16:creationId xmlns:a16="http://schemas.microsoft.com/office/drawing/2014/main" id="{005D9BE8-7E8C-491B-AE3C-5570BEA0F4E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INSIGHTFLOW · NUXT / VUE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3BE7E215-FCD1-4C13-BC15-C89C715D789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Vue tracks dependencies instead of rerunning everything</a:t>
            </a:r>
          </a:p>
        </p:txBody>
      </p:sp>
      <p:sp>
        <p:nvSpPr>
          <p:cNvPr id="3" name="footer-rule-7">
            <a:extLst>
              <a:ext uri="{FF2B5EF4-FFF2-40B4-BE49-F238E27FC236}">
                <a16:creationId xmlns:a16="http://schemas.microsoft.com/office/drawing/2014/main" id="{0C4A15A1-BA7A-43CE-AACE-705E884CDB2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footer-presenter-7">
            <a:extLst>
              <a:ext uri="{FF2B5EF4-FFF2-40B4-BE49-F238E27FC236}">
                <a16:creationId xmlns:a16="http://schemas.microsoft.com/office/drawing/2014/main" id="{C64E1E96-9FEC-47EF-8794-1B6A36A442C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Yasser</a:t>
            </a:r>
          </a:p>
        </p:txBody>
      </p:sp>
      <p:sp>
        <p:nvSpPr>
          <p:cNvPr id="5" name="footer-source-7">
            <a:extLst>
              <a:ext uri="{FF2B5EF4-FFF2-40B4-BE49-F238E27FC236}">
                <a16:creationId xmlns:a16="http://schemas.microsoft.com/office/drawing/2014/main" id="{0311DFD2-8F38-4A24-9174-33BC94A5DE7F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6" name="footer-number-7">
            <a:extLst>
              <a:ext uri="{FF2B5EF4-FFF2-40B4-BE49-F238E27FC236}">
                <a16:creationId xmlns:a16="http://schemas.microsoft.com/office/drawing/2014/main" id="{3F6E243E-F389-45FB-B8D8-D520025058ED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07</a:t>
            </a:r>
          </a:p>
        </p:txBody>
      </p:sp>
      <p:sp>
        <p:nvSpPr>
          <p:cNvPr id="7" name="s7-big">
            <a:extLst>
              <a:ext uri="{FF2B5EF4-FFF2-40B4-BE49-F238E27FC236}">
                <a16:creationId xmlns:a16="http://schemas.microsoft.com/office/drawing/2014/main" id="{C7CEC735-4D4A-406E-A89E-D0E8F7AD6B3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8" name="s7-arrow">
            <a:extLst>
              <a:ext uri="{FF2B5EF4-FFF2-40B4-BE49-F238E27FC236}">
                <a16:creationId xmlns:a16="http://schemas.microsoft.com/office/drawing/2014/main" id="{C8D4E9B0-D8D6-417C-B260-3B89A2A50538}"/>
              </a:ext>
            </a:extLst>
          </p:cNvPr>
          <p:cNvSpPr>
            <a:spLocks noGrp="1"/>
          </p:cNvSpPr>
          <p:nvPr/>
        </p:nvSpPr>
        <p:spPr>
          <a:xfrm>
            <a:off x="3105150" y="1714500"/>
            <a:ext cx="66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150" b="0">
                <a:solidFill>
                  <a:srgbClr val="1FC7B9"/>
                </a:solidFill>
              </a:defRPr>
            </a:pPr>
            <a:r>
              <a:rPr sz="3150" b="0">
                <a:solidFill>
                  <a:srgbClr val="1FC7B9"/>
                </a:solidFill>
              </a:rPr>
              <a:t>→</a:t>
            </a:r>
          </a:p>
        </p:txBody>
      </p:sp>
      <p:sp>
        <p:nvSpPr>
          <p:cNvPr id="9" name="s7-mid">
            <a:extLst>
              <a:ext uri="{FF2B5EF4-FFF2-40B4-BE49-F238E27FC236}">
                <a16:creationId xmlns:a16="http://schemas.microsoft.com/office/drawing/2014/main" id="{E2B784BB-8139-4C23-A649-2ED0AB0AC5DC}"/>
              </a:ext>
            </a:extLst>
          </p:cNvPr>
          <p:cNvSpPr>
            <a:spLocks noGrp="1"/>
          </p:cNvSpPr>
          <p:nvPr/>
        </p:nvSpPr>
        <p:spPr>
          <a:xfrm>
            <a:off x="3905250" y="17145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dependency</a:t>
            </a:r>
          </a:p>
        </p:txBody>
      </p:sp>
      <p:sp>
        <p:nvSpPr>
          <p:cNvPr id="10" name="s7-arrow-2">
            <a:extLst>
              <a:ext uri="{FF2B5EF4-FFF2-40B4-BE49-F238E27FC236}">
                <a16:creationId xmlns:a16="http://schemas.microsoft.com/office/drawing/2014/main" id="{E3CB3E0C-2D50-4408-8AD8-52782BB87A33}"/>
              </a:ext>
            </a:extLst>
          </p:cNvPr>
          <p:cNvSpPr>
            <a:spLocks noGrp="1"/>
          </p:cNvSpPr>
          <p:nvPr/>
        </p:nvSpPr>
        <p:spPr>
          <a:xfrm>
            <a:off x="6819900" y="1714500"/>
            <a:ext cx="66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150" b="0">
                <a:solidFill>
                  <a:srgbClr val="1FC7B9"/>
                </a:solidFill>
              </a:defRPr>
            </a:pPr>
            <a:r>
              <a:rPr sz="3150" b="0">
                <a:solidFill>
                  <a:srgbClr val="1FC7B9"/>
                </a:solidFill>
              </a:rPr>
              <a:t>→</a:t>
            </a:r>
          </a:p>
        </p:txBody>
      </p:sp>
      <p:sp>
        <p:nvSpPr>
          <p:cNvPr id="11" name="s7-end">
            <a:extLst>
              <a:ext uri="{FF2B5EF4-FFF2-40B4-BE49-F238E27FC236}">
                <a16:creationId xmlns:a16="http://schemas.microsoft.com/office/drawing/2014/main" id="{EAD8263C-1CEB-4DAF-AF79-E56428D95340}"/>
              </a:ext>
            </a:extLst>
          </p:cNvPr>
          <p:cNvSpPr>
            <a:spLocks noGrp="1"/>
          </p:cNvSpPr>
          <p:nvPr/>
        </p:nvSpPr>
        <p:spPr>
          <a:xfrm>
            <a:off x="7581900" y="17145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00" b="1">
                <a:solidFill>
                  <a:srgbClr val="1FC7B9"/>
                </a:solidFill>
              </a:defRPr>
            </a:pPr>
            <a:r>
              <a:rPr sz="3300" b="1">
                <a:solidFill>
                  <a:srgbClr val="1FC7B9"/>
                </a:solidFill>
              </a:rPr>
              <a:t>update</a:t>
            </a:r>
          </a:p>
        </p:txBody>
      </p:sp>
      <p:sp>
        <p:nvSpPr>
          <p:cNvPr id="12" name="s7-prop">
            <a:extLst>
              <a:ext uri="{FF2B5EF4-FFF2-40B4-BE49-F238E27FC236}">
                <a16:creationId xmlns:a16="http://schemas.microsoft.com/office/drawing/2014/main" id="{54284B89-7BED-4192-860F-819B6EB60019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2238375" cy="1047750"/>
          </a:xfrm>
          <a:prstGeom prst="roundRect">
            <a:avLst>
              <a:gd name="adj" fmla="val 14545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s7-prop-title">
            <a:extLst>
              <a:ext uri="{FF2B5EF4-FFF2-40B4-BE49-F238E27FC236}">
                <a16:creationId xmlns:a16="http://schemas.microsoft.com/office/drawing/2014/main" id="{BD7D877F-0D17-4693-B20D-0F843C6C67D3}"/>
              </a:ext>
            </a:extLst>
          </p:cNvPr>
          <p:cNvSpPr>
            <a:spLocks noGrp="1"/>
          </p:cNvSpPr>
          <p:nvPr/>
        </p:nvSpPr>
        <p:spPr>
          <a:xfrm>
            <a:off x="857250" y="2962275"/>
            <a:ext cx="1895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props.datasets</a:t>
            </a:r>
          </a:p>
        </p:txBody>
      </p:sp>
      <p:sp>
        <p:nvSpPr>
          <p:cNvPr id="14" name="s7-prop-caption">
            <a:extLst>
              <a:ext uri="{FF2B5EF4-FFF2-40B4-BE49-F238E27FC236}">
                <a16:creationId xmlns:a16="http://schemas.microsoft.com/office/drawing/2014/main" id="{0A9DE803-9E00-4E02-9283-7CC0A2FF9F3D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895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9FB7C2"/>
                </a:solidFill>
              </a:defRPr>
            </a:pPr>
            <a:r>
              <a:rPr sz="1125" b="0">
                <a:solidFill>
                  <a:srgbClr val="9FB7C2"/>
                </a:solidFill>
              </a:rPr>
              <a:t>input from parent</a:t>
            </a:r>
          </a:p>
        </p:txBody>
      </p:sp>
      <p:sp>
        <p:nvSpPr>
          <p:cNvPr id="15" name="s7-model">
            <a:extLst>
              <a:ext uri="{FF2B5EF4-FFF2-40B4-BE49-F238E27FC236}">
                <a16:creationId xmlns:a16="http://schemas.microsoft.com/office/drawing/2014/main" id="{3B1F1F15-BC51-4A22-8834-5D4B96A5B949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2238375" cy="1047750"/>
          </a:xfrm>
          <a:prstGeom prst="roundRect">
            <a:avLst>
              <a:gd name="adj" fmla="val 14545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s7-model-title">
            <a:extLst>
              <a:ext uri="{FF2B5EF4-FFF2-40B4-BE49-F238E27FC236}">
                <a16:creationId xmlns:a16="http://schemas.microsoft.com/office/drawing/2014/main" id="{FBA2A791-EEDD-43A8-ABF0-5E20BF96B70C}"/>
              </a:ext>
            </a:extLst>
          </p:cNvPr>
          <p:cNvSpPr>
            <a:spLocks noGrp="1"/>
          </p:cNvSpPr>
          <p:nvPr/>
        </p:nvSpPr>
        <p:spPr>
          <a:xfrm>
            <a:off x="857250" y="4295775"/>
            <a:ext cx="1895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defineModel</a:t>
            </a:r>
          </a:p>
        </p:txBody>
      </p:sp>
      <p:sp>
        <p:nvSpPr>
          <p:cNvPr id="17" name="s7-model-caption">
            <a:extLst>
              <a:ext uri="{FF2B5EF4-FFF2-40B4-BE49-F238E27FC236}">
                <a16:creationId xmlns:a16="http://schemas.microsoft.com/office/drawing/2014/main" id="{2AFDC0ED-AFBA-4A2B-8708-09BC2AA18AE7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1895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9FB7C2"/>
                </a:solidFill>
              </a:defRPr>
            </a:pPr>
            <a:r>
              <a:rPr sz="1125" b="0">
                <a:solidFill>
                  <a:srgbClr val="9FB7C2"/>
                </a:solidFill>
              </a:rPr>
              <a:t>selected data set</a:t>
            </a:r>
          </a:p>
        </p:txBody>
      </p:sp>
      <p:sp>
        <p:nvSpPr>
          <p:cNvPr id="18" name="s7-computed">
            <a:extLst>
              <a:ext uri="{FF2B5EF4-FFF2-40B4-BE49-F238E27FC236}">
                <a16:creationId xmlns:a16="http://schemas.microsoft.com/office/drawing/2014/main" id="{85B70A12-322B-44AB-988F-92A557EAD8DD}"/>
              </a:ext>
            </a:extLst>
          </p:cNvPr>
          <p:cNvSpPr>
            <a:spLocks noGrp="1"/>
          </p:cNvSpPr>
          <p:nvPr/>
        </p:nvSpPr>
        <p:spPr>
          <a:xfrm>
            <a:off x="3314700" y="3467100"/>
            <a:ext cx="2343150" cy="1123950"/>
          </a:xfrm>
          <a:prstGeom prst="roundRect">
            <a:avLst>
              <a:gd name="adj" fmla="val 13559"/>
            </a:avLst>
          </a:prstGeom>
          <a:solidFill>
            <a:srgbClr val="0D403D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s7-computed-title">
            <a:extLst>
              <a:ext uri="{FF2B5EF4-FFF2-40B4-BE49-F238E27FC236}">
                <a16:creationId xmlns:a16="http://schemas.microsoft.com/office/drawing/2014/main" id="{389020FB-94D8-4253-9C05-A80118584A13}"/>
              </a:ext>
            </a:extLst>
          </p:cNvPr>
          <p:cNvSpPr>
            <a:spLocks noGrp="1"/>
          </p:cNvSpPr>
          <p:nvPr/>
        </p:nvSpPr>
        <p:spPr>
          <a:xfrm>
            <a:off x="3486150" y="36290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computed(items)</a:t>
            </a:r>
          </a:p>
        </p:txBody>
      </p:sp>
      <p:sp>
        <p:nvSpPr>
          <p:cNvPr id="20" name="s7-computed-caption">
            <a:extLst>
              <a:ext uri="{FF2B5EF4-FFF2-40B4-BE49-F238E27FC236}">
                <a16:creationId xmlns:a16="http://schemas.microsoft.com/office/drawing/2014/main" id="{1A1EE67E-6802-43E1-B7E5-8BC23C5B6FEC}"/>
              </a:ext>
            </a:extLst>
          </p:cNvPr>
          <p:cNvSpPr>
            <a:spLocks noGrp="1"/>
          </p:cNvSpPr>
          <p:nvPr/>
        </p:nvSpPr>
        <p:spPr>
          <a:xfrm>
            <a:off x="3486150" y="398145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derived select options</a:t>
            </a:r>
          </a:p>
        </p:txBody>
      </p:sp>
      <p:cxnSp>
        <p:nvCxnSpPr>
          <p:cNvPr id="74" name="Straight Arrow Connector 50"/>
          <p:cNvCxnSpPr>
            <a:stCxn id="12" idx="3"/>
            <a:endCxn id="18" idx="1"/>
          </p:cNvCxnSpPr>
          <p:nvPr/>
        </p:nvCxnSpPr>
        <p:spPr>
          <a:xfrm>
            <a:off x="2924175" y="3324225"/>
            <a:ext cx="390525" cy="704850"/>
          </a:xfrm>
          <a:prstGeom prst="straightConnector1">
            <a:avLst/>
          </a:prstGeom>
          <a:ln w="19050">
            <a:solidFill>
              <a:srgbClr val="1FC7B9"/>
            </a:solidFill>
            <a:prstDash val="solid"/>
            <a:tailEnd type="triangle" w="sm" len="sm"/>
          </a:ln>
        </p:spPr>
      </p:cxnSp>
      <p:cxnSp>
        <p:nvCxnSpPr>
          <p:cNvPr id="75" name="Straight Arrow Connector 51"/>
          <p:cNvCxnSpPr>
            <a:stCxn id="15" idx="3"/>
            <a:endCxn id="18" idx="1"/>
          </p:cNvCxnSpPr>
          <p:nvPr/>
        </p:nvCxnSpPr>
        <p:spPr>
          <a:xfrm flipV="1">
            <a:off x="2924175" y="4029075"/>
            <a:ext cx="390525" cy="628650"/>
          </a:xfrm>
          <a:prstGeom prst="straightConnector1">
            <a:avLst/>
          </a:prstGeom>
          <a:ln w="19050">
            <a:solidFill>
              <a:srgbClr val="1FC7B9"/>
            </a:solidFill>
            <a:prstDash val="solid"/>
            <a:tailEnd type="triangle" w="sm" len="sm"/>
          </a:ln>
        </p:spPr>
      </p:cxnSp>
      <p:sp>
        <p:nvSpPr>
          <p:cNvPr id="23" name="code-frame-7">
            <a:extLst>
              <a:ext uri="{FF2B5EF4-FFF2-40B4-BE49-F238E27FC236}">
                <a16:creationId xmlns:a16="http://schemas.microsoft.com/office/drawing/2014/main" id="{61DD136F-FF2A-4DFE-AEFA-5E97A6DC3AAA}"/>
              </a:ext>
            </a:extLst>
          </p:cNvPr>
          <p:cNvSpPr>
            <a:spLocks noGrp="1"/>
          </p:cNvSpPr>
          <p:nvPr/>
        </p:nvSpPr>
        <p:spPr>
          <a:xfrm>
            <a:off x="6115050" y="2571750"/>
            <a:ext cx="5391150" cy="3238500"/>
          </a:xfrm>
          <a:prstGeom prst="roundRect">
            <a:avLst>
              <a:gd name="adj" fmla="val 5882"/>
            </a:avLst>
          </a:prstGeom>
          <a:solidFill>
            <a:srgbClr val="071F1F"/>
          </a:solidFill>
          <a:ln w="9525">
            <a:solidFill>
              <a:srgbClr val="2C5F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4" name="code-dot-a-7">
            <a:extLst>
              <a:ext uri="{FF2B5EF4-FFF2-40B4-BE49-F238E27FC236}">
                <a16:creationId xmlns:a16="http://schemas.microsoft.com/office/drawing/2014/main" id="{7A17D14E-8ACE-43FD-8E1F-B2A4CC7CC5D1}"/>
              </a:ext>
            </a:extLst>
          </p:cNvPr>
          <p:cNvSpPr>
            <a:spLocks noGrp="1"/>
          </p:cNvSpPr>
          <p:nvPr/>
        </p:nvSpPr>
        <p:spPr>
          <a:xfrm>
            <a:off x="6305550" y="274320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25" name="code-dot-b-7">
            <a:extLst>
              <a:ext uri="{FF2B5EF4-FFF2-40B4-BE49-F238E27FC236}">
                <a16:creationId xmlns:a16="http://schemas.microsoft.com/office/drawing/2014/main" id="{6D81BAA4-2CFD-4D2F-90DD-EDC58BED89AA}"/>
              </a:ext>
            </a:extLst>
          </p:cNvPr>
          <p:cNvSpPr>
            <a:spLocks noGrp="1"/>
          </p:cNvSpPr>
          <p:nvPr/>
        </p:nvSpPr>
        <p:spPr>
          <a:xfrm>
            <a:off x="6457950" y="274320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6" name="code-dot-c-7">
            <a:extLst>
              <a:ext uri="{FF2B5EF4-FFF2-40B4-BE49-F238E27FC236}">
                <a16:creationId xmlns:a16="http://schemas.microsoft.com/office/drawing/2014/main" id="{994F3E02-4348-4783-819E-2045BC414C8E}"/>
              </a:ext>
            </a:extLst>
          </p:cNvPr>
          <p:cNvSpPr>
            <a:spLocks noGrp="1"/>
          </p:cNvSpPr>
          <p:nvPr/>
        </p:nvSpPr>
        <p:spPr>
          <a:xfrm>
            <a:off x="6610350" y="274320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7" name="code-label-7">
            <a:extLst>
              <a:ext uri="{FF2B5EF4-FFF2-40B4-BE49-F238E27FC236}">
                <a16:creationId xmlns:a16="http://schemas.microsoft.com/office/drawing/2014/main" id="{15AFA61E-A3B6-40B4-8FC5-5130968474D8}"/>
              </a:ext>
            </a:extLst>
          </p:cNvPr>
          <p:cNvSpPr>
            <a:spLocks noGrp="1"/>
          </p:cNvSpPr>
          <p:nvPr/>
        </p:nvSpPr>
        <p:spPr>
          <a:xfrm>
            <a:off x="6858000" y="2695575"/>
            <a:ext cx="445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28" name="code-inner-7">
            <a:extLst>
              <a:ext uri="{FF2B5EF4-FFF2-40B4-BE49-F238E27FC236}">
                <a16:creationId xmlns:a16="http://schemas.microsoft.com/office/drawing/2014/main" id="{8CEC7C69-4961-43D9-93B3-C77DBCB1A1FF}"/>
              </a:ext>
            </a:extLst>
          </p:cNvPr>
          <p:cNvSpPr>
            <a:spLocks noGrp="1"/>
          </p:cNvSpPr>
          <p:nvPr/>
        </p:nvSpPr>
        <p:spPr>
          <a:xfrm>
            <a:off x="6286500" y="3048000"/>
            <a:ext cx="5048250" cy="2571750"/>
          </a:xfrm>
          <a:prstGeom prst="roundRect">
            <a:avLst>
              <a:gd name="adj" fmla="val 4444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pic>
        <p:nvPicPr>
          <p:cNvPr id="82" name="Picture 8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76338" y="3086100"/>
            <a:ext cx="4068574" cy="2495550"/>
          </a:xfrm>
          <a:prstGeom prst="roundRect">
            <a:avLst>
              <a:gd name="adj" fmla="val 2290"/>
            </a:avLst>
          </a:prstGeom>
        </p:spPr>
      </p:pic>
    </p:spTree>
    <p:extLst>
      <p:ext uri="{BB962C8B-B14F-4D97-AF65-F5344CB8AC3E}">
        <p14:creationId xmlns:p14="http://schemas.microsoft.com/office/powerpoint/2010/main" val="1964063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8">
            <a:extLst>
              <a:ext uri="{FF2B5EF4-FFF2-40B4-BE49-F238E27FC236}">
                <a16:creationId xmlns:a16="http://schemas.microsoft.com/office/drawing/2014/main" id="{6A9298A6-5F3B-490C-BDA2-3E94391E7A8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FA0AA2F8-E3C8-4A0B-A08F-8E0FFB4F15B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Components turn analytics data into explainable UI</a:t>
            </a:r>
          </a:p>
        </p:txBody>
      </p:sp>
      <p:sp>
        <p:nvSpPr>
          <p:cNvPr id="3" name="footer-rule-8">
            <a:extLst>
              <a:ext uri="{FF2B5EF4-FFF2-40B4-BE49-F238E27FC236}">
                <a16:creationId xmlns:a16="http://schemas.microsoft.com/office/drawing/2014/main" id="{1728C406-CB1C-4C88-B6A6-E66AA077F0C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8">
            <a:extLst>
              <a:ext uri="{FF2B5EF4-FFF2-40B4-BE49-F238E27FC236}">
                <a16:creationId xmlns:a16="http://schemas.microsoft.com/office/drawing/2014/main" id="{78907C32-F72B-4D54-B2B0-ECF8847E197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Yasser</a:t>
            </a:r>
          </a:p>
        </p:txBody>
      </p:sp>
      <p:sp>
        <p:nvSpPr>
          <p:cNvPr id="5" name="footer-source-8">
            <a:extLst>
              <a:ext uri="{FF2B5EF4-FFF2-40B4-BE49-F238E27FC236}">
                <a16:creationId xmlns:a16="http://schemas.microsoft.com/office/drawing/2014/main" id="{EE2A3191-7D05-4E8E-B102-D11C1380474B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8">
            <a:extLst>
              <a:ext uri="{FF2B5EF4-FFF2-40B4-BE49-F238E27FC236}">
                <a16:creationId xmlns:a16="http://schemas.microsoft.com/office/drawing/2014/main" id="{2BC10AF4-2976-4C74-BBF6-3BABE9B9B66C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7" name="s8-claim">
            <a:extLst>
              <a:ext uri="{FF2B5EF4-FFF2-40B4-BE49-F238E27FC236}">
                <a16:creationId xmlns:a16="http://schemas.microsoft.com/office/drawing/2014/main" id="{58453480-359C-4F5C-96CF-A9280758030F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A reusable component should make the meaning clearer—not hide it.</a:t>
            </a:r>
          </a:p>
        </p:txBody>
      </p:sp>
      <p:sp>
        <p:nvSpPr>
          <p:cNvPr id="8" name="s8-data">
            <a:extLst>
              <a:ext uri="{FF2B5EF4-FFF2-40B4-BE49-F238E27FC236}">
                <a16:creationId xmlns:a16="http://schemas.microsoft.com/office/drawing/2014/main" id="{0A450CA2-088C-4B65-8A7F-D54529DDF316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381250" cy="1600200"/>
          </a:xfrm>
          <a:prstGeom prst="roundRect">
            <a:avLst>
              <a:gd name="adj" fmla="val 9524"/>
            </a:avLst>
          </a:prstGeom>
          <a:solidFill>
            <a:srgbClr val="EFFDFB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8-data-title">
            <a:extLst>
              <a:ext uri="{FF2B5EF4-FFF2-40B4-BE49-F238E27FC236}">
                <a16:creationId xmlns:a16="http://schemas.microsoft.com/office/drawing/2014/main" id="{8F2CDD4C-A29C-44AB-BC93-19A14E16D82E}"/>
              </a:ext>
            </a:extLst>
          </p:cNvPr>
          <p:cNvSpPr>
            <a:spLocks noGrp="1"/>
          </p:cNvSpPr>
          <p:nvPr/>
        </p:nvSpPr>
        <p:spPr>
          <a:xfrm>
            <a:off x="857250" y="27336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Typed response</a:t>
            </a:r>
          </a:p>
        </p:txBody>
      </p:sp>
      <p:sp>
        <p:nvSpPr>
          <p:cNvPr id="10" name="s8-data-caption">
            <a:extLst>
              <a:ext uri="{FF2B5EF4-FFF2-40B4-BE49-F238E27FC236}">
                <a16:creationId xmlns:a16="http://schemas.microsoft.com/office/drawing/2014/main" id="{924D3149-81DA-42F6-9A2A-5D4D672058B3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summary · trend · forecast</a:t>
            </a:r>
          </a:p>
        </p:txBody>
      </p:sp>
      <p:sp>
        <p:nvSpPr>
          <p:cNvPr id="11" name="s8-components">
            <a:extLst>
              <a:ext uri="{FF2B5EF4-FFF2-40B4-BE49-F238E27FC236}">
                <a16:creationId xmlns:a16="http://schemas.microsoft.com/office/drawing/2014/main" id="{9CB3922D-48E2-42AF-B43A-83F9CA8C540A}"/>
              </a:ext>
            </a:extLst>
          </p:cNvPr>
          <p:cNvSpPr>
            <a:spLocks noGrp="1"/>
          </p:cNvSpPr>
          <p:nvPr/>
        </p:nvSpPr>
        <p:spPr>
          <a:xfrm>
            <a:off x="4000500" y="2571750"/>
            <a:ext cx="2667000" cy="1600200"/>
          </a:xfrm>
          <a:prstGeom prst="roundRect">
            <a:avLst>
              <a:gd name="adj" fmla="val 9524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8-components-title">
            <a:extLst>
              <a:ext uri="{FF2B5EF4-FFF2-40B4-BE49-F238E27FC236}">
                <a16:creationId xmlns:a16="http://schemas.microsoft.com/office/drawing/2014/main" id="{24F7BE43-FF26-43C4-B949-37843FCDB101}"/>
              </a:ext>
            </a:extLst>
          </p:cNvPr>
          <p:cNvSpPr>
            <a:spLocks noGrp="1"/>
          </p:cNvSpPr>
          <p:nvPr/>
        </p:nvSpPr>
        <p:spPr>
          <a:xfrm>
            <a:off x="4171950" y="2733675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Vue components</a:t>
            </a:r>
          </a:p>
        </p:txBody>
      </p:sp>
      <p:sp>
        <p:nvSpPr>
          <p:cNvPr id="13" name="s8-components-caption">
            <a:extLst>
              <a:ext uri="{FF2B5EF4-FFF2-40B4-BE49-F238E27FC236}">
                <a16:creationId xmlns:a16="http://schemas.microsoft.com/office/drawing/2014/main" id="{5A38A6D1-8714-49C5-80A0-5BA750552C58}"/>
              </a:ext>
            </a:extLst>
          </p:cNvPr>
          <p:cNvSpPr>
            <a:spLocks noGrp="1"/>
          </p:cNvSpPr>
          <p:nvPr/>
        </p:nvSpPr>
        <p:spPr>
          <a:xfrm>
            <a:off x="4171950" y="3086100"/>
            <a:ext cx="23241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metric card · table · chart</a:t>
            </a:r>
          </a:p>
        </p:txBody>
      </p:sp>
      <p:sp>
        <p:nvSpPr>
          <p:cNvPr id="14" name="s8-meaning">
            <a:extLst>
              <a:ext uri="{FF2B5EF4-FFF2-40B4-BE49-F238E27FC236}">
                <a16:creationId xmlns:a16="http://schemas.microsoft.com/office/drawing/2014/main" id="{37CBECDD-4706-4C48-97A5-C06EBDE5A949}"/>
              </a:ext>
            </a:extLst>
          </p:cNvPr>
          <p:cNvSpPr>
            <a:spLocks noGrp="1"/>
          </p:cNvSpPr>
          <p:nvPr/>
        </p:nvSpPr>
        <p:spPr>
          <a:xfrm>
            <a:off x="7600950" y="2571750"/>
            <a:ext cx="3143250" cy="1600200"/>
          </a:xfrm>
          <a:prstGeom prst="roundRect">
            <a:avLst>
              <a:gd name="adj" fmla="val 9524"/>
            </a:avLst>
          </a:prstGeom>
          <a:solidFill>
            <a:srgbClr val="D7FAF6"/>
          </a:solidFill>
          <a:ln w="9525">
            <a:solidFill>
              <a:srgbClr val="169F9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8-meaning-title">
            <a:extLst>
              <a:ext uri="{FF2B5EF4-FFF2-40B4-BE49-F238E27FC236}">
                <a16:creationId xmlns:a16="http://schemas.microsoft.com/office/drawing/2014/main" id="{6284A90D-0301-43EE-BEA4-6D472F82CD16}"/>
              </a:ext>
            </a:extLst>
          </p:cNvPr>
          <p:cNvSpPr>
            <a:spLocks noGrp="1"/>
          </p:cNvSpPr>
          <p:nvPr/>
        </p:nvSpPr>
        <p:spPr>
          <a:xfrm>
            <a:off x="7772400" y="2733675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92F2E"/>
                </a:solidFill>
              </a:defRPr>
            </a:pPr>
            <a:r>
              <a:rPr sz="1650" b="1">
                <a:solidFill>
                  <a:srgbClr val="092F2E"/>
                </a:solidFill>
              </a:rPr>
              <a:t>Owner meaning</a:t>
            </a:r>
          </a:p>
        </p:txBody>
      </p:sp>
      <p:sp>
        <p:nvSpPr>
          <p:cNvPr id="16" name="s8-meaning-caption">
            <a:extLst>
              <a:ext uri="{FF2B5EF4-FFF2-40B4-BE49-F238E27FC236}">
                <a16:creationId xmlns:a16="http://schemas.microsoft.com/office/drawing/2014/main" id="{A942198D-F6CE-49FD-9F7A-5A4080E6E4B2}"/>
              </a:ext>
            </a:extLst>
          </p:cNvPr>
          <p:cNvSpPr>
            <a:spLocks noGrp="1"/>
          </p:cNvSpPr>
          <p:nvPr/>
        </p:nvSpPr>
        <p:spPr>
          <a:xfrm>
            <a:off x="7772400" y="3086100"/>
            <a:ext cx="2800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what changed · where · what next</a:t>
            </a:r>
          </a:p>
        </p:txBody>
      </p:sp>
      <p:cxnSp>
        <p:nvCxnSpPr>
          <p:cNvPr id="56" name="Straight Arrow Connector 37"/>
          <p:cNvCxnSpPr>
            <a:stCxn id="8" idx="3"/>
            <a:endCxn id="11" idx="1"/>
          </p:cNvCxnSpPr>
          <p:nvPr/>
        </p:nvCxnSpPr>
        <p:spPr>
          <a:xfrm>
            <a:off x="3067050" y="3371850"/>
            <a:ext cx="93345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57" name="Straight Arrow Connector 38"/>
          <p:cNvCxnSpPr>
            <a:stCxn id="11" idx="3"/>
            <a:endCxn id="14" idx="1"/>
          </p:cNvCxnSpPr>
          <p:nvPr/>
        </p:nvCxnSpPr>
        <p:spPr>
          <a:xfrm>
            <a:off x="6667500" y="3371850"/>
            <a:ext cx="93345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sp>
        <p:nvSpPr>
          <p:cNvPr id="19" name="s8-clientonly">
            <a:extLst>
              <a:ext uri="{FF2B5EF4-FFF2-40B4-BE49-F238E27FC236}">
                <a16:creationId xmlns:a16="http://schemas.microsoft.com/office/drawing/2014/main" id="{118A45F6-7724-424E-A757-FB95198E4779}"/>
              </a:ext>
            </a:extLst>
          </p:cNvPr>
          <p:cNvSpPr>
            <a:spLocks noGrp="1"/>
          </p:cNvSpPr>
          <p:nvPr/>
        </p:nvSpPr>
        <p:spPr>
          <a:xfrm>
            <a:off x="1390650" y="4876800"/>
            <a:ext cx="9410700" cy="781050"/>
          </a:xfrm>
          <a:prstGeom prst="roundRect">
            <a:avLst>
              <a:gd name="adj" fmla="val 19512"/>
            </a:avLst>
          </a:prstGeom>
          <a:solidFill>
            <a:srgbClr val="FFF7E8"/>
          </a:solidFill>
          <a:ln w="9525">
            <a:solidFill>
              <a:srgbClr val="F6C768"/>
            </a:solidFill>
            <a:prstDash val="solid"/>
          </a:ln>
        </p:spPr>
      </p:sp>
      <p:sp>
        <p:nvSpPr>
          <p:cNvPr id="20" name="s8-clientonly-title">
            <a:extLst>
              <a:ext uri="{FF2B5EF4-FFF2-40B4-BE49-F238E27FC236}">
                <a16:creationId xmlns:a16="http://schemas.microsoft.com/office/drawing/2014/main" id="{0537534A-2B56-4CE2-B790-A1514C02B953}"/>
              </a:ext>
            </a:extLst>
          </p:cNvPr>
          <p:cNvSpPr>
            <a:spLocks noGrp="1"/>
          </p:cNvSpPr>
          <p:nvPr/>
        </p:nvSpPr>
        <p:spPr>
          <a:xfrm>
            <a:off x="1638300" y="50482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92400E"/>
                </a:solidFill>
              </a:defRPr>
            </a:pPr>
            <a:r>
              <a:rPr sz="1425" b="1">
                <a:solidFill>
                  <a:srgbClr val="92400E"/>
                </a:solidFill>
              </a:rPr>
              <a:t>Browser-only boundary</a:t>
            </a:r>
          </a:p>
        </p:txBody>
      </p:sp>
      <p:sp>
        <p:nvSpPr>
          <p:cNvPr id="21" name="s8-clientonly-copy">
            <a:extLst>
              <a:ext uri="{FF2B5EF4-FFF2-40B4-BE49-F238E27FC236}">
                <a16:creationId xmlns:a16="http://schemas.microsoft.com/office/drawing/2014/main" id="{13587E71-3027-4A0D-9322-D60796245E53}"/>
              </a:ext>
            </a:extLst>
          </p:cNvPr>
          <p:cNvSpPr>
            <a:spLocks noGrp="1"/>
          </p:cNvSpPr>
          <p:nvPr/>
        </p:nvSpPr>
        <p:spPr>
          <a:xfrm>
            <a:off x="4000500" y="5048250"/>
            <a:ext cx="647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Chart or window-dependent code sits inside &lt;ClientOnly&gt; with a skeleton fallback.</a:t>
            </a:r>
          </a:p>
        </p:txBody>
      </p:sp>
    </p:spTree>
    <p:extLst>
      <p:ext uri="{BB962C8B-B14F-4D97-AF65-F5344CB8AC3E}">
        <p14:creationId xmlns:p14="http://schemas.microsoft.com/office/powerpoint/2010/main" val="1926916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-9">
            <a:extLst>
              <a:ext uri="{FF2B5EF4-FFF2-40B4-BE49-F238E27FC236}">
                <a16:creationId xmlns:a16="http://schemas.microsoft.com/office/drawing/2014/main" id="{BBE5596E-75B7-46BE-BB99-EC81675E434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EAFF7EA0-8D8A-4AF5-BBA6-46BFB99B0DF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Use the smallest state mechanism that works</a:t>
            </a:r>
          </a:p>
        </p:txBody>
      </p:sp>
      <p:sp>
        <p:nvSpPr>
          <p:cNvPr id="3" name="footer-rule-9">
            <a:extLst>
              <a:ext uri="{FF2B5EF4-FFF2-40B4-BE49-F238E27FC236}">
                <a16:creationId xmlns:a16="http://schemas.microsoft.com/office/drawing/2014/main" id="{AAAAB241-0AC8-431B-8504-2A1AAFD9A0F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9">
            <a:extLst>
              <a:ext uri="{FF2B5EF4-FFF2-40B4-BE49-F238E27FC236}">
                <a16:creationId xmlns:a16="http://schemas.microsoft.com/office/drawing/2014/main" id="{D6229BCB-0E78-48FE-B589-52C41EBF7B1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Yasser</a:t>
            </a:r>
          </a:p>
        </p:txBody>
      </p:sp>
      <p:sp>
        <p:nvSpPr>
          <p:cNvPr id="5" name="footer-source-9">
            <a:extLst>
              <a:ext uri="{FF2B5EF4-FFF2-40B4-BE49-F238E27FC236}">
                <a16:creationId xmlns:a16="http://schemas.microsoft.com/office/drawing/2014/main" id="{A62A8DE3-4CBF-4D6F-9170-4F6F46574992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9">
            <a:extLst>
              <a:ext uri="{FF2B5EF4-FFF2-40B4-BE49-F238E27FC236}">
                <a16:creationId xmlns:a16="http://schemas.microsoft.com/office/drawing/2014/main" id="{3CA10BBF-B1C1-4FF1-BEA7-C023885CC34A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7" name="s9-sub">
            <a:extLst>
              <a:ext uri="{FF2B5EF4-FFF2-40B4-BE49-F238E27FC236}">
                <a16:creationId xmlns:a16="http://schemas.microsoft.com/office/drawing/2014/main" id="{D19A1BC5-33E2-4241-8A11-534F8FD145B2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State should grow only when its sharing boundary grows.</a:t>
            </a:r>
          </a:p>
        </p:txBody>
      </p:sp>
      <p:sp>
        <p:nvSpPr>
          <p:cNvPr id="8" name="s9-step-0">
            <a:extLst>
              <a:ext uri="{FF2B5EF4-FFF2-40B4-BE49-F238E27FC236}">
                <a16:creationId xmlns:a16="http://schemas.microsoft.com/office/drawing/2014/main" id="{C9550B39-1EB5-496B-BF19-1643B927006C}"/>
              </a:ext>
            </a:extLst>
          </p:cNvPr>
          <p:cNvSpPr>
            <a:spLocks noGrp="1"/>
          </p:cNvSpPr>
          <p:nvPr/>
        </p:nvSpPr>
        <p:spPr>
          <a:xfrm>
            <a:off x="876300" y="4438650"/>
            <a:ext cx="2247900" cy="12573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A8DAD4"/>
            </a:solidFill>
            <a:prstDash val="solid"/>
          </a:ln>
        </p:spPr>
      </p:sp>
      <p:sp>
        <p:nvSpPr>
          <p:cNvPr id="9" name="s9-name-0">
            <a:extLst>
              <a:ext uri="{FF2B5EF4-FFF2-40B4-BE49-F238E27FC236}">
                <a16:creationId xmlns:a16="http://schemas.microsoft.com/office/drawing/2014/main" id="{62BFBAFB-6E6A-44AD-9F37-16CBDD2900A8}"/>
              </a:ext>
            </a:extLst>
          </p:cNvPr>
          <p:cNvSpPr>
            <a:spLocks noGrp="1"/>
          </p:cNvSpPr>
          <p:nvPr/>
        </p:nvSpPr>
        <p:spPr>
          <a:xfrm>
            <a:off x="1085850" y="46482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092F2E"/>
                </a:solidFill>
              </a:defRPr>
            </a:pPr>
            <a:r>
              <a:rPr sz="1725" b="1">
                <a:solidFill>
                  <a:srgbClr val="092F2E"/>
                </a:solidFill>
              </a:rPr>
              <a:t>ref</a:t>
            </a:r>
          </a:p>
        </p:txBody>
      </p:sp>
      <p:sp>
        <p:nvSpPr>
          <p:cNvPr id="10" name="s9-boundary-0">
            <a:extLst>
              <a:ext uri="{FF2B5EF4-FFF2-40B4-BE49-F238E27FC236}">
                <a16:creationId xmlns:a16="http://schemas.microsoft.com/office/drawing/2014/main" id="{CF09F193-1692-4E52-8287-A61BB42E6812}"/>
              </a:ext>
            </a:extLst>
          </p:cNvPr>
          <p:cNvSpPr>
            <a:spLocks noGrp="1"/>
          </p:cNvSpPr>
          <p:nvPr/>
        </p:nvSpPr>
        <p:spPr>
          <a:xfrm>
            <a:off x="1085850" y="510540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69F96"/>
                </a:solidFill>
              </a:defRPr>
            </a:pPr>
            <a:r>
              <a:rPr sz="1275" b="1">
                <a:solidFill>
                  <a:srgbClr val="169F96"/>
                </a:solidFill>
              </a:rPr>
              <a:t>one component</a:t>
            </a:r>
          </a:p>
        </p:txBody>
      </p:sp>
      <p:sp>
        <p:nvSpPr>
          <p:cNvPr id="11" name="s9-purpose-0">
            <a:extLst>
              <a:ext uri="{FF2B5EF4-FFF2-40B4-BE49-F238E27FC236}">
                <a16:creationId xmlns:a16="http://schemas.microsoft.com/office/drawing/2014/main" id="{8689BD14-DB6A-4B86-9C1B-E767C4CC6646}"/>
              </a:ext>
            </a:extLst>
          </p:cNvPr>
          <p:cNvSpPr>
            <a:spLocks noGrp="1"/>
          </p:cNvSpPr>
          <p:nvPr/>
        </p:nvSpPr>
        <p:spPr>
          <a:xfrm>
            <a:off x="1085850" y="542925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local interaction</a:t>
            </a:r>
          </a:p>
        </p:txBody>
      </p:sp>
      <p:sp>
        <p:nvSpPr>
          <p:cNvPr id="12" name="s9-step-1">
            <a:extLst>
              <a:ext uri="{FF2B5EF4-FFF2-40B4-BE49-F238E27FC236}">
                <a16:creationId xmlns:a16="http://schemas.microsoft.com/office/drawing/2014/main" id="{33BD1A19-18AA-4315-8364-AA7C69035511}"/>
              </a:ext>
            </a:extLst>
          </p:cNvPr>
          <p:cNvSpPr>
            <a:spLocks noGrp="1"/>
          </p:cNvSpPr>
          <p:nvPr/>
        </p:nvSpPr>
        <p:spPr>
          <a:xfrm>
            <a:off x="3562350" y="4152900"/>
            <a:ext cx="2247900" cy="1543050"/>
          </a:xfrm>
          <a:prstGeom prst="roundRect">
            <a:avLst>
              <a:gd name="adj" fmla="val 11111"/>
            </a:avLst>
          </a:prstGeom>
          <a:solidFill>
            <a:srgbClr val="D7FAF6"/>
          </a:solidFill>
          <a:ln w="9525">
            <a:solidFill>
              <a:srgbClr val="A8DAD4"/>
            </a:solidFill>
            <a:prstDash val="solid"/>
          </a:ln>
        </p:spPr>
      </p:sp>
      <p:sp>
        <p:nvSpPr>
          <p:cNvPr id="13" name="s9-name-1">
            <a:extLst>
              <a:ext uri="{FF2B5EF4-FFF2-40B4-BE49-F238E27FC236}">
                <a16:creationId xmlns:a16="http://schemas.microsoft.com/office/drawing/2014/main" id="{6A927D9D-97B0-414F-9753-4B222E150467}"/>
              </a:ext>
            </a:extLst>
          </p:cNvPr>
          <p:cNvSpPr>
            <a:spLocks noGrp="1"/>
          </p:cNvSpPr>
          <p:nvPr/>
        </p:nvSpPr>
        <p:spPr>
          <a:xfrm>
            <a:off x="37719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092F2E"/>
                </a:solidFill>
              </a:defRPr>
            </a:pPr>
            <a:r>
              <a:rPr sz="1725" b="1">
                <a:solidFill>
                  <a:srgbClr val="092F2E"/>
                </a:solidFill>
              </a:rPr>
              <a:t>defineModel</a:t>
            </a:r>
          </a:p>
        </p:txBody>
      </p:sp>
      <p:sp>
        <p:nvSpPr>
          <p:cNvPr id="14" name="s9-boundary-1">
            <a:extLst>
              <a:ext uri="{FF2B5EF4-FFF2-40B4-BE49-F238E27FC236}">
                <a16:creationId xmlns:a16="http://schemas.microsoft.com/office/drawing/2014/main" id="{239D27C6-2C5B-4A49-B765-2334AB2F3546}"/>
              </a:ext>
            </a:extLst>
          </p:cNvPr>
          <p:cNvSpPr>
            <a:spLocks noGrp="1"/>
          </p:cNvSpPr>
          <p:nvPr/>
        </p:nvSpPr>
        <p:spPr>
          <a:xfrm>
            <a:off x="3771900" y="481965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69F96"/>
                </a:solidFill>
              </a:defRPr>
            </a:pPr>
            <a:r>
              <a:rPr sz="1275" b="1">
                <a:solidFill>
                  <a:srgbClr val="169F96"/>
                </a:solidFill>
              </a:rPr>
              <a:t>parent ↔ child</a:t>
            </a:r>
          </a:p>
        </p:txBody>
      </p:sp>
      <p:sp>
        <p:nvSpPr>
          <p:cNvPr id="15" name="s9-purpose-1">
            <a:extLst>
              <a:ext uri="{FF2B5EF4-FFF2-40B4-BE49-F238E27FC236}">
                <a16:creationId xmlns:a16="http://schemas.microsoft.com/office/drawing/2014/main" id="{063A279B-195B-4E9E-9740-7A2B98BC4E45}"/>
              </a:ext>
            </a:extLst>
          </p:cNvPr>
          <p:cNvSpPr>
            <a:spLocks noGrp="1"/>
          </p:cNvSpPr>
          <p:nvPr/>
        </p:nvSpPr>
        <p:spPr>
          <a:xfrm>
            <a:off x="3771900" y="514350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two-way component contract</a:t>
            </a:r>
          </a:p>
        </p:txBody>
      </p:sp>
      <p:sp>
        <p:nvSpPr>
          <p:cNvPr id="16" name="s9-step-2">
            <a:extLst>
              <a:ext uri="{FF2B5EF4-FFF2-40B4-BE49-F238E27FC236}">
                <a16:creationId xmlns:a16="http://schemas.microsoft.com/office/drawing/2014/main" id="{94B7D10D-96E4-4CB0-B414-DCCE8ECB2669}"/>
              </a:ext>
            </a:extLst>
          </p:cNvPr>
          <p:cNvSpPr>
            <a:spLocks noGrp="1"/>
          </p:cNvSpPr>
          <p:nvPr/>
        </p:nvSpPr>
        <p:spPr>
          <a:xfrm>
            <a:off x="6248400" y="3867150"/>
            <a:ext cx="2247900" cy="1828800"/>
          </a:xfrm>
          <a:prstGeom prst="roundRect">
            <a:avLst>
              <a:gd name="adj" fmla="val 9375"/>
            </a:avLst>
          </a:prstGeom>
          <a:solidFill>
            <a:srgbClr val="C9F4EF"/>
          </a:solidFill>
          <a:ln w="9525">
            <a:solidFill>
              <a:srgbClr val="A8DAD4"/>
            </a:solidFill>
            <a:prstDash val="solid"/>
          </a:ln>
        </p:spPr>
      </p:sp>
      <p:sp>
        <p:nvSpPr>
          <p:cNvPr id="17" name="s9-name-2">
            <a:extLst>
              <a:ext uri="{FF2B5EF4-FFF2-40B4-BE49-F238E27FC236}">
                <a16:creationId xmlns:a16="http://schemas.microsoft.com/office/drawing/2014/main" id="{4243BAA2-23BF-42BA-BE27-6DBC73905F06}"/>
              </a:ext>
            </a:extLst>
          </p:cNvPr>
          <p:cNvSpPr>
            <a:spLocks noGrp="1"/>
          </p:cNvSpPr>
          <p:nvPr/>
        </p:nvSpPr>
        <p:spPr>
          <a:xfrm>
            <a:off x="6457950" y="40767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092F2E"/>
                </a:solidFill>
              </a:defRPr>
            </a:pPr>
            <a:r>
              <a:rPr sz="1725" b="1">
                <a:solidFill>
                  <a:srgbClr val="092F2E"/>
                </a:solidFill>
              </a:rPr>
              <a:t>computed</a:t>
            </a:r>
          </a:p>
        </p:txBody>
      </p:sp>
      <p:sp>
        <p:nvSpPr>
          <p:cNvPr id="18" name="s9-boundary-2">
            <a:extLst>
              <a:ext uri="{FF2B5EF4-FFF2-40B4-BE49-F238E27FC236}">
                <a16:creationId xmlns:a16="http://schemas.microsoft.com/office/drawing/2014/main" id="{0375D098-98A9-4F9E-89A1-97D365380A99}"/>
              </a:ext>
            </a:extLst>
          </p:cNvPr>
          <p:cNvSpPr>
            <a:spLocks noGrp="1"/>
          </p:cNvSpPr>
          <p:nvPr/>
        </p:nvSpPr>
        <p:spPr>
          <a:xfrm>
            <a:off x="6457950" y="453390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69F96"/>
                </a:solidFill>
              </a:defRPr>
            </a:pPr>
            <a:r>
              <a:rPr sz="1275" b="1">
                <a:solidFill>
                  <a:srgbClr val="169F96"/>
                </a:solidFill>
              </a:rPr>
              <a:t>derived value</a:t>
            </a:r>
          </a:p>
        </p:txBody>
      </p:sp>
      <p:sp>
        <p:nvSpPr>
          <p:cNvPr id="19" name="s9-purpose-2">
            <a:extLst>
              <a:ext uri="{FF2B5EF4-FFF2-40B4-BE49-F238E27FC236}">
                <a16:creationId xmlns:a16="http://schemas.microsoft.com/office/drawing/2014/main" id="{22800D33-A268-4967-A63D-898854E99DA8}"/>
              </a:ext>
            </a:extLst>
          </p:cNvPr>
          <p:cNvSpPr>
            <a:spLocks noGrp="1"/>
          </p:cNvSpPr>
          <p:nvPr/>
        </p:nvSpPr>
        <p:spPr>
          <a:xfrm>
            <a:off x="6457950" y="485775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no duplicate source of truth</a:t>
            </a:r>
          </a:p>
        </p:txBody>
      </p:sp>
      <p:sp>
        <p:nvSpPr>
          <p:cNvPr id="20" name="s9-step-3">
            <a:extLst>
              <a:ext uri="{FF2B5EF4-FFF2-40B4-BE49-F238E27FC236}">
                <a16:creationId xmlns:a16="http://schemas.microsoft.com/office/drawing/2014/main" id="{97505612-6982-4440-9877-7198AE15A898}"/>
              </a:ext>
            </a:extLst>
          </p:cNvPr>
          <p:cNvSpPr>
            <a:spLocks noGrp="1"/>
          </p:cNvSpPr>
          <p:nvPr/>
        </p:nvSpPr>
        <p:spPr>
          <a:xfrm>
            <a:off x="8934450" y="3581400"/>
            <a:ext cx="2247900" cy="2114550"/>
          </a:xfrm>
          <a:prstGeom prst="roundRect">
            <a:avLst>
              <a:gd name="adj" fmla="val 8108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</p:sp>
      <p:sp>
        <p:nvSpPr>
          <p:cNvPr id="21" name="s9-name-3">
            <a:extLst>
              <a:ext uri="{FF2B5EF4-FFF2-40B4-BE49-F238E27FC236}">
                <a16:creationId xmlns:a16="http://schemas.microsoft.com/office/drawing/2014/main" id="{DF68149E-7CA8-4C01-BC41-9E8A5BE5A30E}"/>
              </a:ext>
            </a:extLst>
          </p:cNvPr>
          <p:cNvSpPr>
            <a:spLocks noGrp="1"/>
          </p:cNvSpPr>
          <p:nvPr/>
        </p:nvSpPr>
        <p:spPr>
          <a:xfrm>
            <a:off x="9144000" y="3790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useState</a:t>
            </a:r>
          </a:p>
        </p:txBody>
      </p:sp>
      <p:sp>
        <p:nvSpPr>
          <p:cNvPr id="22" name="s9-boundary-3">
            <a:extLst>
              <a:ext uri="{FF2B5EF4-FFF2-40B4-BE49-F238E27FC236}">
                <a16:creationId xmlns:a16="http://schemas.microsoft.com/office/drawing/2014/main" id="{8790BB2E-B2B6-4E6A-9E07-2738E77AC553}"/>
              </a:ext>
            </a:extLst>
          </p:cNvPr>
          <p:cNvSpPr>
            <a:spLocks noGrp="1"/>
          </p:cNvSpPr>
          <p:nvPr/>
        </p:nvSpPr>
        <p:spPr>
          <a:xfrm>
            <a:off x="9144000" y="424815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across Nuxt</a:t>
            </a:r>
          </a:p>
        </p:txBody>
      </p:sp>
      <p:sp>
        <p:nvSpPr>
          <p:cNvPr id="23" name="s9-purpose-3">
            <a:extLst>
              <a:ext uri="{FF2B5EF4-FFF2-40B4-BE49-F238E27FC236}">
                <a16:creationId xmlns:a16="http://schemas.microsoft.com/office/drawing/2014/main" id="{840F5EC2-5AB4-4048-A92F-1963E29D47EB}"/>
              </a:ext>
            </a:extLst>
          </p:cNvPr>
          <p:cNvSpPr>
            <a:spLocks noGrp="1"/>
          </p:cNvSpPr>
          <p:nvPr/>
        </p:nvSpPr>
        <p:spPr>
          <a:xfrm>
            <a:off x="9144000" y="457200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shared + hydration-safe</a:t>
            </a:r>
          </a:p>
        </p:txBody>
      </p:sp>
      <p:sp>
        <p:nvSpPr>
          <p:cNvPr id="24" name="s9-axis">
            <a:extLst>
              <a:ext uri="{FF2B5EF4-FFF2-40B4-BE49-F238E27FC236}">
                <a16:creationId xmlns:a16="http://schemas.microsoft.com/office/drawing/2014/main" id="{419BC312-2C37-4F64-8747-920C518909F8}"/>
              </a:ext>
            </a:extLst>
          </p:cNvPr>
          <p:cNvSpPr>
            <a:spLocks noGrp="1"/>
          </p:cNvSpPr>
          <p:nvPr/>
        </p:nvSpPr>
        <p:spPr>
          <a:xfrm>
            <a:off x="876300" y="5848350"/>
            <a:ext cx="10306050" cy="0"/>
          </a:xfrm>
          <a:prstGeom prst="line">
            <a:avLst/>
          </a:prstGeom>
          <a:noFill/>
          <a:ln w="19050">
            <a:solidFill>
              <a:srgbClr val="169F96"/>
            </a:solidFill>
            <a:prstDash val="solid"/>
          </a:ln>
        </p:spPr>
      </p:sp>
      <p:sp>
        <p:nvSpPr>
          <p:cNvPr id="25" name="s9-axis-left">
            <a:extLst>
              <a:ext uri="{FF2B5EF4-FFF2-40B4-BE49-F238E27FC236}">
                <a16:creationId xmlns:a16="http://schemas.microsoft.com/office/drawing/2014/main" id="{00B9E881-BA97-4B11-B1E7-35924D32BE0B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169F96"/>
                </a:solidFill>
              </a:defRPr>
            </a:pPr>
            <a:r>
              <a:rPr sz="975" b="1">
                <a:solidFill>
                  <a:srgbClr val="169F96"/>
                </a:solidFill>
              </a:rPr>
              <a:t>narrow</a:t>
            </a:r>
          </a:p>
        </p:txBody>
      </p:sp>
      <p:sp>
        <p:nvSpPr>
          <p:cNvPr id="26" name="s9-axis-right">
            <a:extLst>
              <a:ext uri="{FF2B5EF4-FFF2-40B4-BE49-F238E27FC236}">
                <a16:creationId xmlns:a16="http://schemas.microsoft.com/office/drawing/2014/main" id="{C60D9DBF-8762-4AE3-AC97-DF7244E1A2C4}"/>
              </a:ext>
            </a:extLst>
          </p:cNvPr>
          <p:cNvSpPr>
            <a:spLocks noGrp="1"/>
          </p:cNvSpPr>
          <p:nvPr/>
        </p:nvSpPr>
        <p:spPr>
          <a:xfrm>
            <a:off x="10229850" y="59817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169F96"/>
                </a:solidFill>
              </a:defRPr>
            </a:pPr>
            <a:r>
              <a:rPr sz="975" b="1">
                <a:solidFill>
                  <a:srgbClr val="169F96"/>
                </a:solidFill>
              </a:rPr>
              <a:t>shared</a:t>
            </a:r>
          </a:p>
        </p:txBody>
      </p:sp>
    </p:spTree>
    <p:extLst>
      <p:ext uri="{BB962C8B-B14F-4D97-AF65-F5344CB8AC3E}">
        <p14:creationId xmlns:p14="http://schemas.microsoft.com/office/powerpoint/2010/main" val="17265816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-10">
            <a:extLst>
              <a:ext uri="{FF2B5EF4-FFF2-40B4-BE49-F238E27FC236}">
                <a16:creationId xmlns:a16="http://schemas.microsoft.com/office/drawing/2014/main" id="{9DDA077A-272B-4826-A98C-52C6317DBE8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INSIGHTFLOW · NUXT / VUE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DB3B576E-AE0B-4C47-AACD-C0FDE0F9D97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 server filename can become a validated CRUD endpoint</a:t>
            </a:r>
          </a:p>
        </p:txBody>
      </p:sp>
      <p:sp>
        <p:nvSpPr>
          <p:cNvPr id="3" name="footer-rule-10">
            <a:extLst>
              <a:ext uri="{FF2B5EF4-FFF2-40B4-BE49-F238E27FC236}">
                <a16:creationId xmlns:a16="http://schemas.microsoft.com/office/drawing/2014/main" id="{C19FED4A-1A33-4210-BF34-C8FEFF9B1E2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footer-presenter-10">
            <a:extLst>
              <a:ext uri="{FF2B5EF4-FFF2-40B4-BE49-F238E27FC236}">
                <a16:creationId xmlns:a16="http://schemas.microsoft.com/office/drawing/2014/main" id="{ED69D73E-943C-425D-9910-FF3A8618A10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Dalaa</a:t>
            </a:r>
          </a:p>
        </p:txBody>
      </p:sp>
      <p:sp>
        <p:nvSpPr>
          <p:cNvPr id="5" name="footer-source-10">
            <a:extLst>
              <a:ext uri="{FF2B5EF4-FFF2-40B4-BE49-F238E27FC236}">
                <a16:creationId xmlns:a16="http://schemas.microsoft.com/office/drawing/2014/main" id="{F9144D1C-E0A8-406F-9100-095DE525E223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6" name="footer-number-10">
            <a:extLst>
              <a:ext uri="{FF2B5EF4-FFF2-40B4-BE49-F238E27FC236}">
                <a16:creationId xmlns:a16="http://schemas.microsoft.com/office/drawing/2014/main" id="{1E57564C-B13B-4FEB-A688-BC7AEEA81A44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10</a:t>
            </a:r>
          </a:p>
        </p:txBody>
      </p:sp>
      <p:sp>
        <p:nvSpPr>
          <p:cNvPr id="7" name="code-frame-10">
            <a:extLst>
              <a:ext uri="{FF2B5EF4-FFF2-40B4-BE49-F238E27FC236}">
                <a16:creationId xmlns:a16="http://schemas.microsoft.com/office/drawing/2014/main" id="{E16AD80F-D061-4A3D-AFC2-FBBC5AF4B76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5905500" cy="4267200"/>
          </a:xfrm>
          <a:prstGeom prst="roundRect">
            <a:avLst>
              <a:gd name="adj" fmla="val 4464"/>
            </a:avLst>
          </a:prstGeom>
          <a:solidFill>
            <a:srgbClr val="071F1F"/>
          </a:solidFill>
          <a:ln w="9525">
            <a:solidFill>
              <a:srgbClr val="2C5F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code-dot-a-10">
            <a:extLst>
              <a:ext uri="{FF2B5EF4-FFF2-40B4-BE49-F238E27FC236}">
                <a16:creationId xmlns:a16="http://schemas.microsoft.com/office/drawing/2014/main" id="{A772F981-541A-4CEC-803B-CFFEFC3281CD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9" name="code-dot-b-10">
            <a:extLst>
              <a:ext uri="{FF2B5EF4-FFF2-40B4-BE49-F238E27FC236}">
                <a16:creationId xmlns:a16="http://schemas.microsoft.com/office/drawing/2014/main" id="{CF2966FD-92E6-46DC-BC1A-FE9D4C65C6A8}"/>
              </a:ext>
            </a:extLst>
          </p:cNvPr>
          <p:cNvSpPr>
            <a:spLocks noGrp="1"/>
          </p:cNvSpPr>
          <p:nvPr/>
        </p:nvSpPr>
        <p:spPr>
          <a:xfrm>
            <a:off x="1028700" y="175260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0" name="code-dot-c-10">
            <a:extLst>
              <a:ext uri="{FF2B5EF4-FFF2-40B4-BE49-F238E27FC236}">
                <a16:creationId xmlns:a16="http://schemas.microsoft.com/office/drawing/2014/main" id="{4A85EFF2-F151-4AFD-8E94-75A66A5808C0}"/>
              </a:ext>
            </a:extLst>
          </p:cNvPr>
          <p:cNvSpPr>
            <a:spLocks noGrp="1"/>
          </p:cNvSpPr>
          <p:nvPr/>
        </p:nvSpPr>
        <p:spPr>
          <a:xfrm>
            <a:off x="1181100" y="175260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1" name="code-label-10">
            <a:extLst>
              <a:ext uri="{FF2B5EF4-FFF2-40B4-BE49-F238E27FC236}">
                <a16:creationId xmlns:a16="http://schemas.microsoft.com/office/drawing/2014/main" id="{7BA1B06B-33D5-4C85-8B19-5CCB37F3A4E9}"/>
              </a:ext>
            </a:extLst>
          </p:cNvPr>
          <p:cNvSpPr>
            <a:spLocks noGrp="1"/>
          </p:cNvSpPr>
          <p:nvPr/>
        </p:nvSpPr>
        <p:spPr>
          <a:xfrm>
            <a:off x="1428750" y="1704975"/>
            <a:ext cx="497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12" name="code-inner-10">
            <a:extLst>
              <a:ext uri="{FF2B5EF4-FFF2-40B4-BE49-F238E27FC236}">
                <a16:creationId xmlns:a16="http://schemas.microsoft.com/office/drawing/2014/main" id="{21251EF0-DB42-4D7C-97E8-3789478E6566}"/>
              </a:ext>
            </a:extLst>
          </p:cNvPr>
          <p:cNvSpPr>
            <a:spLocks noGrp="1"/>
          </p:cNvSpPr>
          <p:nvPr/>
        </p:nvSpPr>
        <p:spPr>
          <a:xfrm>
            <a:off x="857250" y="2057400"/>
            <a:ext cx="5562600" cy="3600450"/>
          </a:xfrm>
          <a:prstGeom prst="roundRect">
            <a:avLst>
              <a:gd name="adj" fmla="val 3175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sp>
        <p:nvSpPr>
          <p:cNvPr id="15" name="s10-path">
            <a:extLst>
              <a:ext uri="{FF2B5EF4-FFF2-40B4-BE49-F238E27FC236}">
                <a16:creationId xmlns:a16="http://schemas.microsoft.com/office/drawing/2014/main" id="{6A5F36D3-019D-411B-BC9D-7266A6154B8D}"/>
              </a:ext>
            </a:extLst>
          </p:cNvPr>
          <p:cNvSpPr>
            <a:spLocks noGrp="1"/>
          </p:cNvSpPr>
          <p:nvPr/>
        </p:nvSpPr>
        <p:spPr>
          <a:xfrm>
            <a:off x="7105650" y="1676400"/>
            <a:ext cx="4400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FC7B9"/>
                </a:solidFill>
              </a:defRPr>
            </a:pPr>
            <a:r>
              <a:rPr sz="1350" b="1">
                <a:solidFill>
                  <a:srgbClr val="1FC7B9"/>
                </a:solidFill>
              </a:rPr>
              <a:t>server/api/recommendations/rules.post.ts</a:t>
            </a:r>
          </a:p>
        </p:txBody>
      </p:sp>
      <p:sp>
        <p:nvSpPr>
          <p:cNvPr id="16" name="s10-num-0">
            <a:extLst>
              <a:ext uri="{FF2B5EF4-FFF2-40B4-BE49-F238E27FC236}">
                <a16:creationId xmlns:a16="http://schemas.microsoft.com/office/drawing/2014/main" id="{23461B20-99D5-4C88-BC68-1B2FC52B21D0}"/>
              </a:ext>
            </a:extLst>
          </p:cNvPr>
          <p:cNvSpPr>
            <a:spLocks noGrp="1"/>
          </p:cNvSpPr>
          <p:nvPr/>
        </p:nvSpPr>
        <p:spPr>
          <a:xfrm>
            <a:off x="7105650" y="2438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1FC7B9"/>
                </a:solidFill>
              </a:defRPr>
            </a:pPr>
            <a:r>
              <a:rPr sz="1200" b="1">
                <a:solidFill>
                  <a:srgbClr val="1FC7B9"/>
                </a:solidFill>
              </a:rPr>
              <a:t>01</a:t>
            </a:r>
          </a:p>
        </p:txBody>
      </p:sp>
      <p:sp>
        <p:nvSpPr>
          <p:cNvPr id="17" name="s10-title-0">
            <a:extLst>
              <a:ext uri="{FF2B5EF4-FFF2-40B4-BE49-F238E27FC236}">
                <a16:creationId xmlns:a16="http://schemas.microsoft.com/office/drawing/2014/main" id="{9D932323-AF09-4B9A-9930-4A4B92AC1CC5}"/>
              </a:ext>
            </a:extLst>
          </p:cNvPr>
          <p:cNvSpPr>
            <a:spLocks noGrp="1"/>
          </p:cNvSpPr>
          <p:nvPr/>
        </p:nvSpPr>
        <p:spPr>
          <a:xfrm>
            <a:off x="7734300" y="24193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requireOwnerId</a:t>
            </a:r>
          </a:p>
        </p:txBody>
      </p:sp>
      <p:sp>
        <p:nvSpPr>
          <p:cNvPr id="18" name="s10-desc-0">
            <a:extLst>
              <a:ext uri="{FF2B5EF4-FFF2-40B4-BE49-F238E27FC236}">
                <a16:creationId xmlns:a16="http://schemas.microsoft.com/office/drawing/2014/main" id="{2F4ECE31-54D5-4A36-8D74-BCC96E533D82}"/>
              </a:ext>
            </a:extLst>
          </p:cNvPr>
          <p:cNvSpPr>
            <a:spLocks noGrp="1"/>
          </p:cNvSpPr>
          <p:nvPr/>
        </p:nvSpPr>
        <p:spPr>
          <a:xfrm>
            <a:off x="7734300" y="2724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B9DCD8"/>
                </a:solidFill>
              </a:defRPr>
            </a:pPr>
            <a:r>
              <a:rPr sz="1125" b="0">
                <a:solidFill>
                  <a:srgbClr val="B9DCD8"/>
                </a:solidFill>
              </a:rPr>
              <a:t>scope the request</a:t>
            </a:r>
          </a:p>
        </p:txBody>
      </p:sp>
      <p:sp>
        <p:nvSpPr>
          <p:cNvPr id="19" name="s10-stage-rule-0">
            <a:extLst>
              <a:ext uri="{FF2B5EF4-FFF2-40B4-BE49-F238E27FC236}">
                <a16:creationId xmlns:a16="http://schemas.microsoft.com/office/drawing/2014/main" id="{5543BB69-F8FB-423D-A23C-F6D7C0809605}"/>
              </a:ext>
            </a:extLst>
          </p:cNvPr>
          <p:cNvSpPr>
            <a:spLocks noGrp="1"/>
          </p:cNvSpPr>
          <p:nvPr/>
        </p:nvSpPr>
        <p:spPr>
          <a:xfrm>
            <a:off x="7353300" y="3048000"/>
            <a:ext cx="0" cy="19050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20" name="s10-num-1">
            <a:extLst>
              <a:ext uri="{FF2B5EF4-FFF2-40B4-BE49-F238E27FC236}">
                <a16:creationId xmlns:a16="http://schemas.microsoft.com/office/drawing/2014/main" id="{5EBC3F5C-02FA-4734-88E1-2D1964EC3BCB}"/>
              </a:ext>
            </a:extLst>
          </p:cNvPr>
          <p:cNvSpPr>
            <a:spLocks noGrp="1"/>
          </p:cNvSpPr>
          <p:nvPr/>
        </p:nvSpPr>
        <p:spPr>
          <a:xfrm>
            <a:off x="7105650" y="3238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1FC7B9"/>
                </a:solidFill>
              </a:defRPr>
            </a:pPr>
            <a:r>
              <a:rPr sz="1200" b="1">
                <a:solidFill>
                  <a:srgbClr val="1FC7B9"/>
                </a:solidFill>
              </a:rPr>
              <a:t>02</a:t>
            </a:r>
          </a:p>
        </p:txBody>
      </p:sp>
      <p:sp>
        <p:nvSpPr>
          <p:cNvPr id="21" name="s10-title-1">
            <a:extLst>
              <a:ext uri="{FF2B5EF4-FFF2-40B4-BE49-F238E27FC236}">
                <a16:creationId xmlns:a16="http://schemas.microsoft.com/office/drawing/2014/main" id="{C66B0E4B-CAD7-4B5F-AC43-65F8584817AB}"/>
              </a:ext>
            </a:extLst>
          </p:cNvPr>
          <p:cNvSpPr>
            <a:spLocks noGrp="1"/>
          </p:cNvSpPr>
          <p:nvPr/>
        </p:nvSpPr>
        <p:spPr>
          <a:xfrm>
            <a:off x="7734300" y="32194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safeParse</a:t>
            </a:r>
          </a:p>
        </p:txBody>
      </p:sp>
      <p:sp>
        <p:nvSpPr>
          <p:cNvPr id="22" name="s10-desc-1">
            <a:extLst>
              <a:ext uri="{FF2B5EF4-FFF2-40B4-BE49-F238E27FC236}">
                <a16:creationId xmlns:a16="http://schemas.microsoft.com/office/drawing/2014/main" id="{26BD749F-3572-4260-AB5D-5D2440776054}"/>
              </a:ext>
            </a:extLst>
          </p:cNvPr>
          <p:cNvSpPr>
            <a:spLocks noGrp="1"/>
          </p:cNvSpPr>
          <p:nvPr/>
        </p:nvSpPr>
        <p:spPr>
          <a:xfrm>
            <a:off x="7734300" y="35242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B9DCD8"/>
                </a:solidFill>
              </a:defRPr>
            </a:pPr>
            <a:r>
              <a:rPr sz="1125" b="0">
                <a:solidFill>
                  <a:srgbClr val="B9DCD8"/>
                </a:solidFill>
              </a:rPr>
              <a:t>reject invalid input</a:t>
            </a:r>
          </a:p>
        </p:txBody>
      </p:sp>
      <p:sp>
        <p:nvSpPr>
          <p:cNvPr id="23" name="s10-stage-rule-1">
            <a:extLst>
              <a:ext uri="{FF2B5EF4-FFF2-40B4-BE49-F238E27FC236}">
                <a16:creationId xmlns:a16="http://schemas.microsoft.com/office/drawing/2014/main" id="{A54EECDF-6A3F-4CA7-8DD8-05EE34E32247}"/>
              </a:ext>
            </a:extLst>
          </p:cNvPr>
          <p:cNvSpPr>
            <a:spLocks noGrp="1"/>
          </p:cNvSpPr>
          <p:nvPr/>
        </p:nvSpPr>
        <p:spPr>
          <a:xfrm>
            <a:off x="7353300" y="3848100"/>
            <a:ext cx="0" cy="19050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24" name="s10-num-2">
            <a:extLst>
              <a:ext uri="{FF2B5EF4-FFF2-40B4-BE49-F238E27FC236}">
                <a16:creationId xmlns:a16="http://schemas.microsoft.com/office/drawing/2014/main" id="{4D0EA673-26F6-4108-8433-1E964160160C}"/>
              </a:ext>
            </a:extLst>
          </p:cNvPr>
          <p:cNvSpPr>
            <a:spLocks noGrp="1"/>
          </p:cNvSpPr>
          <p:nvPr/>
        </p:nvSpPr>
        <p:spPr>
          <a:xfrm>
            <a:off x="7105650" y="40386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1FC7B9"/>
                </a:solidFill>
              </a:defRPr>
            </a:pPr>
            <a:r>
              <a:rPr sz="1200" b="1">
                <a:solidFill>
                  <a:srgbClr val="1FC7B9"/>
                </a:solidFill>
              </a:rPr>
              <a:t>03</a:t>
            </a:r>
          </a:p>
        </p:txBody>
      </p:sp>
      <p:sp>
        <p:nvSpPr>
          <p:cNvPr id="25" name="s10-title-2">
            <a:extLst>
              <a:ext uri="{FF2B5EF4-FFF2-40B4-BE49-F238E27FC236}">
                <a16:creationId xmlns:a16="http://schemas.microsoft.com/office/drawing/2014/main" id="{B8D9831E-C239-429D-A594-29C695F56361}"/>
              </a:ext>
            </a:extLst>
          </p:cNvPr>
          <p:cNvSpPr>
            <a:spLocks noGrp="1"/>
          </p:cNvSpPr>
          <p:nvPr/>
        </p:nvSpPr>
        <p:spPr>
          <a:xfrm>
            <a:off x="7734300" y="4019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ruleSchema.parse</a:t>
            </a:r>
          </a:p>
        </p:txBody>
      </p:sp>
      <p:sp>
        <p:nvSpPr>
          <p:cNvPr id="26" name="s10-desc-2">
            <a:extLst>
              <a:ext uri="{FF2B5EF4-FFF2-40B4-BE49-F238E27FC236}">
                <a16:creationId xmlns:a16="http://schemas.microsoft.com/office/drawing/2014/main" id="{420C491E-E493-4C30-A5C9-EA5990AC746E}"/>
              </a:ext>
            </a:extLst>
          </p:cNvPr>
          <p:cNvSpPr>
            <a:spLocks noGrp="1"/>
          </p:cNvSpPr>
          <p:nvPr/>
        </p:nvSpPr>
        <p:spPr>
          <a:xfrm>
            <a:off x="7734300" y="432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B9DCD8"/>
                </a:solidFill>
              </a:defRPr>
            </a:pPr>
            <a:r>
              <a:rPr sz="1125" b="0">
                <a:solidFill>
                  <a:srgbClr val="B9DCD8"/>
                </a:solidFill>
              </a:rPr>
              <a:t>build the record</a:t>
            </a:r>
          </a:p>
        </p:txBody>
      </p:sp>
      <p:sp>
        <p:nvSpPr>
          <p:cNvPr id="27" name="s10-stage-rule-2">
            <a:extLst>
              <a:ext uri="{FF2B5EF4-FFF2-40B4-BE49-F238E27FC236}">
                <a16:creationId xmlns:a16="http://schemas.microsoft.com/office/drawing/2014/main" id="{242F46E3-8838-4539-AC27-EA3F3C82BB72}"/>
              </a:ext>
            </a:extLst>
          </p:cNvPr>
          <p:cNvSpPr>
            <a:spLocks noGrp="1"/>
          </p:cNvSpPr>
          <p:nvPr/>
        </p:nvSpPr>
        <p:spPr>
          <a:xfrm>
            <a:off x="7353300" y="4648200"/>
            <a:ext cx="0" cy="19050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28" name="s10-num-3">
            <a:extLst>
              <a:ext uri="{FF2B5EF4-FFF2-40B4-BE49-F238E27FC236}">
                <a16:creationId xmlns:a16="http://schemas.microsoft.com/office/drawing/2014/main" id="{837580B1-354D-48AD-B34D-8F3F5B525C4C}"/>
              </a:ext>
            </a:extLst>
          </p:cNvPr>
          <p:cNvSpPr>
            <a:spLocks noGrp="1"/>
          </p:cNvSpPr>
          <p:nvPr/>
        </p:nvSpPr>
        <p:spPr>
          <a:xfrm>
            <a:off x="7105650" y="48387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29" name="s10-title-3">
            <a:extLst>
              <a:ext uri="{FF2B5EF4-FFF2-40B4-BE49-F238E27FC236}">
                <a16:creationId xmlns:a16="http://schemas.microsoft.com/office/drawing/2014/main" id="{0862AEBB-DF7B-43DD-87E5-EA2AAE0603CF}"/>
              </a:ext>
            </a:extLst>
          </p:cNvPr>
          <p:cNvSpPr>
            <a:spLocks noGrp="1"/>
          </p:cNvSpPr>
          <p:nvPr/>
        </p:nvSpPr>
        <p:spPr>
          <a:xfrm>
            <a:off x="7734300" y="48196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insertOne</a:t>
            </a:r>
          </a:p>
        </p:txBody>
      </p:sp>
      <p:sp>
        <p:nvSpPr>
          <p:cNvPr id="30" name="s10-desc-3">
            <a:extLst>
              <a:ext uri="{FF2B5EF4-FFF2-40B4-BE49-F238E27FC236}">
                <a16:creationId xmlns:a16="http://schemas.microsoft.com/office/drawing/2014/main" id="{B102E945-79B4-4E34-8746-736FE3CFF463}"/>
              </a:ext>
            </a:extLst>
          </p:cNvPr>
          <p:cNvSpPr>
            <a:spLocks noGrp="1"/>
          </p:cNvSpPr>
          <p:nvPr/>
        </p:nvSpPr>
        <p:spPr>
          <a:xfrm>
            <a:off x="7734300" y="51244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B9DCD8"/>
                </a:solidFill>
              </a:defRPr>
            </a:pPr>
            <a:r>
              <a:rPr sz="1125" b="0">
                <a:solidFill>
                  <a:srgbClr val="B9DCD8"/>
                </a:solidFill>
              </a:rPr>
              <a:t>persist with official driver</a:t>
            </a:r>
          </a:p>
        </p:txBody>
      </p:sp>
      <p:sp>
        <p:nvSpPr>
          <p:cNvPr id="31" name="s10-route-bg">
            <a:extLst>
              <a:ext uri="{FF2B5EF4-FFF2-40B4-BE49-F238E27FC236}">
                <a16:creationId xmlns:a16="http://schemas.microsoft.com/office/drawing/2014/main" id="{C399C0D3-34F2-4D2B-A9E1-7BE1EE75DAF5}"/>
              </a:ext>
            </a:extLst>
          </p:cNvPr>
          <p:cNvSpPr>
            <a:spLocks noGrp="1"/>
          </p:cNvSpPr>
          <p:nvPr/>
        </p:nvSpPr>
        <p:spPr>
          <a:xfrm>
            <a:off x="7086600" y="5581650"/>
            <a:ext cx="3810000" cy="323850"/>
          </a:xfrm>
          <a:prstGeom prst="roundRect">
            <a:avLst>
              <a:gd name="adj" fmla="val 50000"/>
            </a:avLst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32" name="s10-route-text">
            <a:extLst>
              <a:ext uri="{FF2B5EF4-FFF2-40B4-BE49-F238E27FC236}">
                <a16:creationId xmlns:a16="http://schemas.microsoft.com/office/drawing/2014/main" id="{FBEA32DF-3197-4299-88E9-DDB7D9B5218B}"/>
              </a:ext>
            </a:extLst>
          </p:cNvPr>
          <p:cNvSpPr>
            <a:spLocks noGrp="1"/>
          </p:cNvSpPr>
          <p:nvPr/>
        </p:nvSpPr>
        <p:spPr>
          <a:xfrm>
            <a:off x="7200900" y="5648325"/>
            <a:ext cx="3581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092F2E"/>
                </a:solidFill>
              </a:defRPr>
            </a:pPr>
            <a:r>
              <a:rPr sz="975" b="1">
                <a:solidFill>
                  <a:srgbClr val="092F2E"/>
                </a:solidFill>
              </a:rPr>
              <a:t>POST /api/recommendations/rules</a:t>
            </a: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" y="2236459"/>
            <a:ext cx="5486400" cy="3242333"/>
          </a:xfrm>
          <a:prstGeom prst="roundRect">
            <a:avLst>
              <a:gd name="adj" fmla="val 1622"/>
            </a:avLst>
          </a:prstGeom>
        </p:spPr>
      </p:pic>
    </p:spTree>
    <p:extLst>
      <p:ext uri="{BB962C8B-B14F-4D97-AF65-F5344CB8AC3E}">
        <p14:creationId xmlns:p14="http://schemas.microsoft.com/office/powerpoint/2010/main" val="1599884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-11">
            <a:extLst>
              <a:ext uri="{FF2B5EF4-FFF2-40B4-BE49-F238E27FC236}">
                <a16:creationId xmlns:a16="http://schemas.microsoft.com/office/drawing/2014/main" id="{954CCCCC-8A92-4FB2-A9C3-E347C2D17A3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AB3EEE33-F6C9-4743-8829-A93A5B0B4DA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Full-stack features are flows, not isolated endpoints</a:t>
            </a:r>
          </a:p>
        </p:txBody>
      </p:sp>
      <p:sp>
        <p:nvSpPr>
          <p:cNvPr id="3" name="footer-rule-11">
            <a:extLst>
              <a:ext uri="{FF2B5EF4-FFF2-40B4-BE49-F238E27FC236}">
                <a16:creationId xmlns:a16="http://schemas.microsoft.com/office/drawing/2014/main" id="{E95D0675-1891-4B7E-81BF-6D46DCA0BE5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11">
            <a:extLst>
              <a:ext uri="{FF2B5EF4-FFF2-40B4-BE49-F238E27FC236}">
                <a16:creationId xmlns:a16="http://schemas.microsoft.com/office/drawing/2014/main" id="{DFA2FFF2-7C48-49A5-8E08-FBE92A23812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Dalaa</a:t>
            </a:r>
          </a:p>
        </p:txBody>
      </p:sp>
      <p:sp>
        <p:nvSpPr>
          <p:cNvPr id="5" name="footer-source-11">
            <a:extLst>
              <a:ext uri="{FF2B5EF4-FFF2-40B4-BE49-F238E27FC236}">
                <a16:creationId xmlns:a16="http://schemas.microsoft.com/office/drawing/2014/main" id="{3BFE4AE5-491B-4B6C-90DB-960681AEB14D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11">
            <a:extLst>
              <a:ext uri="{FF2B5EF4-FFF2-40B4-BE49-F238E27FC236}">
                <a16:creationId xmlns:a16="http://schemas.microsoft.com/office/drawing/2014/main" id="{4BE498BA-785F-41E2-B9BA-1455BD29783B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7" name="s11-sub">
            <a:extLst>
              <a:ext uri="{FF2B5EF4-FFF2-40B4-BE49-F238E27FC236}">
                <a16:creationId xmlns:a16="http://schemas.microsoft.com/office/drawing/2014/main" id="{87529D0B-3DDD-48E3-B986-963E497ED826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Phase 2 adds capability without changing the core architecture.</a:t>
            </a:r>
          </a:p>
        </p:txBody>
      </p:sp>
      <p:sp>
        <p:nvSpPr>
          <p:cNvPr id="8" name="s11-owner">
            <a:extLst>
              <a:ext uri="{FF2B5EF4-FFF2-40B4-BE49-F238E27FC236}">
                <a16:creationId xmlns:a16="http://schemas.microsoft.com/office/drawing/2014/main" id="{A99FFA2F-B93D-41E8-AC03-D9FFE6AFF055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095500" cy="1409700"/>
          </a:xfrm>
          <a:prstGeom prst="roundRect">
            <a:avLst>
              <a:gd name="adj" fmla="val 10811"/>
            </a:avLst>
          </a:prstGeom>
          <a:solidFill>
            <a:srgbClr val="EFFDFB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11-owner-title">
            <a:extLst>
              <a:ext uri="{FF2B5EF4-FFF2-40B4-BE49-F238E27FC236}">
                <a16:creationId xmlns:a16="http://schemas.microsoft.com/office/drawing/2014/main" id="{90DC43ED-9DC0-495A-85FE-4996C6D24449}"/>
              </a:ext>
            </a:extLst>
          </p:cNvPr>
          <p:cNvSpPr>
            <a:spLocks noGrp="1"/>
          </p:cNvSpPr>
          <p:nvPr/>
        </p:nvSpPr>
        <p:spPr>
          <a:xfrm>
            <a:off x="857250" y="28860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Owner action</a:t>
            </a:r>
          </a:p>
        </p:txBody>
      </p:sp>
      <p:sp>
        <p:nvSpPr>
          <p:cNvPr id="10" name="s11-owner-caption">
            <a:extLst>
              <a:ext uri="{FF2B5EF4-FFF2-40B4-BE49-F238E27FC236}">
                <a16:creationId xmlns:a16="http://schemas.microsoft.com/office/drawing/2014/main" id="{BB9FCB8D-61E9-4A62-863A-698503EC95E3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1752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upload · follow advice · restore</a:t>
            </a:r>
          </a:p>
        </p:txBody>
      </p:sp>
      <p:sp>
        <p:nvSpPr>
          <p:cNvPr id="11" name="s11-contract">
            <a:extLst>
              <a:ext uri="{FF2B5EF4-FFF2-40B4-BE49-F238E27FC236}">
                <a16:creationId xmlns:a16="http://schemas.microsoft.com/office/drawing/2014/main" id="{8F0A1901-687A-4EDC-BA95-405FD8DF764E}"/>
              </a:ext>
            </a:extLst>
          </p:cNvPr>
          <p:cNvSpPr>
            <a:spLocks noGrp="1"/>
          </p:cNvSpPr>
          <p:nvPr/>
        </p:nvSpPr>
        <p:spPr>
          <a:xfrm>
            <a:off x="3581400" y="2724150"/>
            <a:ext cx="2190750" cy="1409700"/>
          </a:xfrm>
          <a:prstGeom prst="roundRect">
            <a:avLst>
              <a:gd name="adj" fmla="val 10811"/>
            </a:avLst>
          </a:prstGeom>
          <a:solidFill>
            <a:srgbClr val="D7FAF6"/>
          </a:solidFill>
          <a:ln w="9525">
            <a:solidFill>
              <a:srgbClr val="169F9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11-contract-title">
            <a:extLst>
              <a:ext uri="{FF2B5EF4-FFF2-40B4-BE49-F238E27FC236}">
                <a16:creationId xmlns:a16="http://schemas.microsoft.com/office/drawing/2014/main" id="{451C11A6-CDA1-4F18-9721-1570EDB4377C}"/>
              </a:ext>
            </a:extLst>
          </p:cNvPr>
          <p:cNvSpPr>
            <a:spLocks noGrp="1"/>
          </p:cNvSpPr>
          <p:nvPr/>
        </p:nvSpPr>
        <p:spPr>
          <a:xfrm>
            <a:off x="3752850" y="2886075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Shared contract</a:t>
            </a:r>
          </a:p>
        </p:txBody>
      </p:sp>
      <p:sp>
        <p:nvSpPr>
          <p:cNvPr id="13" name="s11-contract-caption">
            <a:extLst>
              <a:ext uri="{FF2B5EF4-FFF2-40B4-BE49-F238E27FC236}">
                <a16:creationId xmlns:a16="http://schemas.microsoft.com/office/drawing/2014/main" id="{61CB24ED-AF03-4512-91D5-AEAAB0C5BD49}"/>
              </a:ext>
            </a:extLst>
          </p:cNvPr>
          <p:cNvSpPr>
            <a:spLocks noGrp="1"/>
          </p:cNvSpPr>
          <p:nvPr/>
        </p:nvSpPr>
        <p:spPr>
          <a:xfrm>
            <a:off x="3752850" y="3238500"/>
            <a:ext cx="18478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forecast · version · outcome</a:t>
            </a:r>
          </a:p>
        </p:txBody>
      </p:sp>
      <p:sp>
        <p:nvSpPr>
          <p:cNvPr id="14" name="s11-domain">
            <a:extLst>
              <a:ext uri="{FF2B5EF4-FFF2-40B4-BE49-F238E27FC236}">
                <a16:creationId xmlns:a16="http://schemas.microsoft.com/office/drawing/2014/main" id="{38EECCB0-04F6-44CF-A937-11396D3FAEC0}"/>
              </a:ext>
            </a:extLst>
          </p:cNvPr>
          <p:cNvSpPr>
            <a:spLocks noGrp="1"/>
          </p:cNvSpPr>
          <p:nvPr/>
        </p:nvSpPr>
        <p:spPr>
          <a:xfrm>
            <a:off x="6572250" y="2724150"/>
            <a:ext cx="2095500" cy="1409700"/>
          </a:xfrm>
          <a:prstGeom prst="roundRect">
            <a:avLst>
              <a:gd name="adj" fmla="val 10811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11-domain-title">
            <a:extLst>
              <a:ext uri="{FF2B5EF4-FFF2-40B4-BE49-F238E27FC236}">
                <a16:creationId xmlns:a16="http://schemas.microsoft.com/office/drawing/2014/main" id="{CF4E8F6B-4115-4674-81E0-46502E6C1A54}"/>
              </a:ext>
            </a:extLst>
          </p:cNvPr>
          <p:cNvSpPr>
            <a:spLocks noGrp="1"/>
          </p:cNvSpPr>
          <p:nvPr/>
        </p:nvSpPr>
        <p:spPr>
          <a:xfrm>
            <a:off x="6743700" y="28860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Server logic</a:t>
            </a:r>
          </a:p>
        </p:txBody>
      </p:sp>
      <p:sp>
        <p:nvSpPr>
          <p:cNvPr id="16" name="s11-domain-caption">
            <a:extLst>
              <a:ext uri="{FF2B5EF4-FFF2-40B4-BE49-F238E27FC236}">
                <a16:creationId xmlns:a16="http://schemas.microsoft.com/office/drawing/2014/main" id="{6B6CFFFF-9A34-482C-A2EB-EFDC1DFF6739}"/>
              </a:ext>
            </a:extLst>
          </p:cNvPr>
          <p:cNvSpPr>
            <a:spLocks noGrp="1"/>
          </p:cNvSpPr>
          <p:nvPr/>
        </p:nvSpPr>
        <p:spPr>
          <a:xfrm>
            <a:off x="6743700" y="3238500"/>
            <a:ext cx="1752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calculate · compare · restore</a:t>
            </a:r>
          </a:p>
        </p:txBody>
      </p:sp>
      <p:sp>
        <p:nvSpPr>
          <p:cNvPr id="17" name="s11-result">
            <a:extLst>
              <a:ext uri="{FF2B5EF4-FFF2-40B4-BE49-F238E27FC236}">
                <a16:creationId xmlns:a16="http://schemas.microsoft.com/office/drawing/2014/main" id="{D6E2E54B-A81E-424B-88B2-6398DA950BDB}"/>
              </a:ext>
            </a:extLst>
          </p:cNvPr>
          <p:cNvSpPr>
            <a:spLocks noGrp="1"/>
          </p:cNvSpPr>
          <p:nvPr/>
        </p:nvSpPr>
        <p:spPr>
          <a:xfrm>
            <a:off x="9467850" y="2724150"/>
            <a:ext cx="2038350" cy="1409700"/>
          </a:xfrm>
          <a:prstGeom prst="roundRect">
            <a:avLst>
              <a:gd name="adj" fmla="val 10811"/>
            </a:avLst>
          </a:prstGeom>
          <a:solidFill>
            <a:srgbClr val="FFF7E8"/>
          </a:solidFill>
          <a:ln w="9525">
            <a:solidFill>
              <a:srgbClr val="F6C7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s11-result-title">
            <a:extLst>
              <a:ext uri="{FF2B5EF4-FFF2-40B4-BE49-F238E27FC236}">
                <a16:creationId xmlns:a16="http://schemas.microsoft.com/office/drawing/2014/main" id="{8E5191C1-BDA3-4391-A6C8-33AEEB3982E0}"/>
              </a:ext>
            </a:extLst>
          </p:cNvPr>
          <p:cNvSpPr>
            <a:spLocks noGrp="1"/>
          </p:cNvSpPr>
          <p:nvPr/>
        </p:nvSpPr>
        <p:spPr>
          <a:xfrm>
            <a:off x="9639300" y="2886075"/>
            <a:ext cx="1695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92400E"/>
                </a:solidFill>
              </a:defRPr>
            </a:pPr>
            <a:r>
              <a:rPr sz="1500" b="1">
                <a:solidFill>
                  <a:srgbClr val="92400E"/>
                </a:solidFill>
              </a:rPr>
              <a:t>Explainable result</a:t>
            </a:r>
          </a:p>
        </p:txBody>
      </p:sp>
      <p:sp>
        <p:nvSpPr>
          <p:cNvPr id="19" name="s11-result-caption">
            <a:extLst>
              <a:ext uri="{FF2B5EF4-FFF2-40B4-BE49-F238E27FC236}">
                <a16:creationId xmlns:a16="http://schemas.microsoft.com/office/drawing/2014/main" id="{1DEF4B8D-A2C9-4A3A-BCC8-638E2360361E}"/>
              </a:ext>
            </a:extLst>
          </p:cNvPr>
          <p:cNvSpPr>
            <a:spLocks noGrp="1"/>
          </p:cNvSpPr>
          <p:nvPr/>
        </p:nvSpPr>
        <p:spPr>
          <a:xfrm>
            <a:off x="9639300" y="3238500"/>
            <a:ext cx="16954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band · verdict · current version</a:t>
            </a:r>
          </a:p>
        </p:txBody>
      </p:sp>
      <p:cxnSp>
        <p:nvCxnSpPr>
          <p:cNvPr id="72" name="Straight Arrow Connector 49"/>
          <p:cNvCxnSpPr>
            <a:stCxn id="8" idx="3"/>
            <a:endCxn id="11" idx="1"/>
          </p:cNvCxnSpPr>
          <p:nvPr/>
        </p:nvCxnSpPr>
        <p:spPr>
          <a:xfrm>
            <a:off x="2781300" y="3429000"/>
            <a:ext cx="80010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73" name="Straight Arrow Connector 50"/>
          <p:cNvCxnSpPr>
            <a:stCxn id="11" idx="3"/>
            <a:endCxn id="14" idx="1"/>
          </p:cNvCxnSpPr>
          <p:nvPr/>
        </p:nvCxnSpPr>
        <p:spPr>
          <a:xfrm>
            <a:off x="5772150" y="3429000"/>
            <a:ext cx="80010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74" name="Straight Arrow Connector 51"/>
          <p:cNvCxnSpPr>
            <a:stCxn id="14" idx="3"/>
            <a:endCxn id="17" idx="1"/>
          </p:cNvCxnSpPr>
          <p:nvPr/>
        </p:nvCxnSpPr>
        <p:spPr>
          <a:xfrm>
            <a:off x="8667750" y="3429000"/>
            <a:ext cx="80010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sp>
        <p:nvSpPr>
          <p:cNvPr id="23" name="s11-phase-title-0">
            <a:extLst>
              <a:ext uri="{FF2B5EF4-FFF2-40B4-BE49-F238E27FC236}">
                <a16:creationId xmlns:a16="http://schemas.microsoft.com/office/drawing/2014/main" id="{25E52032-6EE3-46BE-80F7-4E2316ED9424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169F96"/>
                </a:solidFill>
              </a:defRPr>
            </a:pPr>
            <a:r>
              <a:rPr sz="1050" b="1">
                <a:solidFill>
                  <a:srgbClr val="169F96"/>
                </a:solidFill>
              </a:rPr>
              <a:t>FORECAST</a:t>
            </a:r>
          </a:p>
        </p:txBody>
      </p:sp>
      <p:sp>
        <p:nvSpPr>
          <p:cNvPr id="24" name="s11-phase-copy-0">
            <a:extLst>
              <a:ext uri="{FF2B5EF4-FFF2-40B4-BE49-F238E27FC236}">
                <a16:creationId xmlns:a16="http://schemas.microsoft.com/office/drawing/2014/main" id="{E395CD15-6082-402C-97CB-DF38EE730BE3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what may happen</a:t>
            </a:r>
          </a:p>
        </p:txBody>
      </p:sp>
      <p:sp>
        <p:nvSpPr>
          <p:cNvPr id="25" name="s11-phase-title-1">
            <a:extLst>
              <a:ext uri="{FF2B5EF4-FFF2-40B4-BE49-F238E27FC236}">
                <a16:creationId xmlns:a16="http://schemas.microsoft.com/office/drawing/2014/main" id="{B3DEDB71-F1CA-4844-8BE5-CD6B38523BD4}"/>
              </a:ext>
            </a:extLst>
          </p:cNvPr>
          <p:cNvSpPr>
            <a:spLocks noGrp="1"/>
          </p:cNvSpPr>
          <p:nvPr/>
        </p:nvSpPr>
        <p:spPr>
          <a:xfrm>
            <a:off x="3371850" y="49530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169F96"/>
                </a:solidFill>
              </a:defRPr>
            </a:pPr>
            <a:r>
              <a:rPr sz="1050" b="1">
                <a:solidFill>
                  <a:srgbClr val="169F96"/>
                </a:solidFill>
              </a:rPr>
              <a:t>VERSIONS</a:t>
            </a:r>
          </a:p>
        </p:txBody>
      </p:sp>
      <p:sp>
        <p:nvSpPr>
          <p:cNvPr id="26" name="s11-phase-copy-1">
            <a:extLst>
              <a:ext uri="{FF2B5EF4-FFF2-40B4-BE49-F238E27FC236}">
                <a16:creationId xmlns:a16="http://schemas.microsoft.com/office/drawing/2014/main" id="{A7E70799-0BF0-4D31-8DDA-02F245601475}"/>
              </a:ext>
            </a:extLst>
          </p:cNvPr>
          <p:cNvSpPr>
            <a:spLocks noGrp="1"/>
          </p:cNvSpPr>
          <p:nvPr/>
        </p:nvSpPr>
        <p:spPr>
          <a:xfrm>
            <a:off x="3371850" y="52768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what changed</a:t>
            </a:r>
          </a:p>
        </p:txBody>
      </p:sp>
      <p:sp>
        <p:nvSpPr>
          <p:cNvPr id="27" name="s11-phase-title-2">
            <a:extLst>
              <a:ext uri="{FF2B5EF4-FFF2-40B4-BE49-F238E27FC236}">
                <a16:creationId xmlns:a16="http://schemas.microsoft.com/office/drawing/2014/main" id="{8ECA6417-45AC-47ED-8E39-2414A8BE58CB}"/>
              </a:ext>
            </a:extLst>
          </p:cNvPr>
          <p:cNvSpPr>
            <a:spLocks noGrp="1"/>
          </p:cNvSpPr>
          <p:nvPr/>
        </p:nvSpPr>
        <p:spPr>
          <a:xfrm>
            <a:off x="6057900" y="49530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169F96"/>
                </a:solidFill>
              </a:defRPr>
            </a:pPr>
            <a:r>
              <a:rPr sz="1050" b="1">
                <a:solidFill>
                  <a:srgbClr val="169F96"/>
                </a:solidFill>
              </a:rPr>
              <a:t>OUTCOMES</a:t>
            </a:r>
          </a:p>
        </p:txBody>
      </p:sp>
      <p:sp>
        <p:nvSpPr>
          <p:cNvPr id="28" name="s11-phase-copy-2">
            <a:extLst>
              <a:ext uri="{FF2B5EF4-FFF2-40B4-BE49-F238E27FC236}">
                <a16:creationId xmlns:a16="http://schemas.microsoft.com/office/drawing/2014/main" id="{D113F9A4-4E81-429F-95B8-7D8C2E0DBF0A}"/>
              </a:ext>
            </a:extLst>
          </p:cNvPr>
          <p:cNvSpPr>
            <a:spLocks noGrp="1"/>
          </p:cNvSpPr>
          <p:nvPr/>
        </p:nvSpPr>
        <p:spPr>
          <a:xfrm>
            <a:off x="6057900" y="52768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did advice help</a:t>
            </a:r>
          </a:p>
        </p:txBody>
      </p:sp>
      <p:sp>
        <p:nvSpPr>
          <p:cNvPr id="29" name="s11-phase-title-3">
            <a:extLst>
              <a:ext uri="{FF2B5EF4-FFF2-40B4-BE49-F238E27FC236}">
                <a16:creationId xmlns:a16="http://schemas.microsoft.com/office/drawing/2014/main" id="{A0EEBE5C-218A-46F7-B3AC-4F1C82647DD3}"/>
              </a:ext>
            </a:extLst>
          </p:cNvPr>
          <p:cNvSpPr>
            <a:spLocks noGrp="1"/>
          </p:cNvSpPr>
          <p:nvPr/>
        </p:nvSpPr>
        <p:spPr>
          <a:xfrm>
            <a:off x="8743950" y="49530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92400E"/>
                </a:solidFill>
              </a:defRPr>
            </a:pPr>
            <a:r>
              <a:rPr sz="1050" b="1">
                <a:solidFill>
                  <a:srgbClr val="92400E"/>
                </a:solidFill>
              </a:rPr>
              <a:t>BENCHMARKS</a:t>
            </a:r>
          </a:p>
        </p:txBody>
      </p:sp>
      <p:sp>
        <p:nvSpPr>
          <p:cNvPr id="30" name="s11-phase-copy-3">
            <a:extLst>
              <a:ext uri="{FF2B5EF4-FFF2-40B4-BE49-F238E27FC236}">
                <a16:creationId xmlns:a16="http://schemas.microsoft.com/office/drawing/2014/main" id="{4EB179B2-D8FE-4B56-9DFC-402C84663028}"/>
              </a:ext>
            </a:extLst>
          </p:cNvPr>
          <p:cNvSpPr>
            <a:spLocks noGrp="1"/>
          </p:cNvSpPr>
          <p:nvPr/>
        </p:nvSpPr>
        <p:spPr>
          <a:xfrm>
            <a:off x="8743950" y="52768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how the field compares</a:t>
            </a:r>
          </a:p>
        </p:txBody>
      </p:sp>
    </p:spTree>
    <p:extLst>
      <p:ext uri="{BB962C8B-B14F-4D97-AF65-F5344CB8AC3E}">
        <p14:creationId xmlns:p14="http://schemas.microsoft.com/office/powerpoint/2010/main" val="19891508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yebrow-12">
            <a:extLst>
              <a:ext uri="{FF2B5EF4-FFF2-40B4-BE49-F238E27FC236}">
                <a16:creationId xmlns:a16="http://schemas.microsoft.com/office/drawing/2014/main" id="{FEF07B46-00C4-4131-A8FE-1419C2ED700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D0F4EF65-0243-4ED6-ACBD-8DB4EBD7072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The best framework depends on the application boundary</a:t>
            </a:r>
          </a:p>
        </p:txBody>
      </p:sp>
      <p:sp>
        <p:nvSpPr>
          <p:cNvPr id="3" name="footer-rule-12">
            <a:extLst>
              <a:ext uri="{FF2B5EF4-FFF2-40B4-BE49-F238E27FC236}">
                <a16:creationId xmlns:a16="http://schemas.microsoft.com/office/drawing/2014/main" id="{670C6F26-D2AD-4EEC-8BAF-109A9D80ACE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12">
            <a:extLst>
              <a:ext uri="{FF2B5EF4-FFF2-40B4-BE49-F238E27FC236}">
                <a16:creationId xmlns:a16="http://schemas.microsoft.com/office/drawing/2014/main" id="{4A5922CB-E81B-4EA7-977A-C859CD2D125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Dalaa</a:t>
            </a:r>
          </a:p>
        </p:txBody>
      </p:sp>
      <p:sp>
        <p:nvSpPr>
          <p:cNvPr id="5" name="footer-source-12">
            <a:extLst>
              <a:ext uri="{FF2B5EF4-FFF2-40B4-BE49-F238E27FC236}">
                <a16:creationId xmlns:a16="http://schemas.microsoft.com/office/drawing/2014/main" id="{CDB31425-4CD5-4470-86DA-CB890968A171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12">
            <a:extLst>
              <a:ext uri="{FF2B5EF4-FFF2-40B4-BE49-F238E27FC236}">
                <a16:creationId xmlns:a16="http://schemas.microsoft.com/office/drawing/2014/main" id="{4ECF8535-FD0A-4EA5-8E7D-15F2971F0B4A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7" name="s12-sub">
            <a:extLst>
              <a:ext uri="{FF2B5EF4-FFF2-40B4-BE49-F238E27FC236}">
                <a16:creationId xmlns:a16="http://schemas.microsoft.com/office/drawing/2014/main" id="{A684208A-B821-4405-81F6-AAD93BC26D88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Choose for the shape of the system, not for a universal winner.</a:t>
            </a:r>
          </a:p>
        </p:txBody>
      </p:sp>
      <p:sp>
        <p:nvSpPr>
          <p:cNvPr id="8" name="s12-head-0">
            <a:extLst>
              <a:ext uri="{FF2B5EF4-FFF2-40B4-BE49-F238E27FC236}">
                <a16:creationId xmlns:a16="http://schemas.microsoft.com/office/drawing/2014/main" id="{3B683B18-2F0F-475A-B5B0-665564EEF9EA}"/>
              </a:ext>
            </a:extLst>
          </p:cNvPr>
          <p:cNvSpPr>
            <a:spLocks noGrp="1"/>
          </p:cNvSpPr>
          <p:nvPr/>
        </p:nvSpPr>
        <p:spPr>
          <a:xfrm>
            <a:off x="3028950" y="2076450"/>
            <a:ext cx="2457450" cy="723900"/>
          </a:xfrm>
          <a:prstGeom prst="roundRect">
            <a:avLst>
              <a:gd name="adj" fmla="val 18421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</p:sp>
      <p:sp>
        <p:nvSpPr>
          <p:cNvPr id="9" name="s12-head-title-0">
            <a:extLst>
              <a:ext uri="{FF2B5EF4-FFF2-40B4-BE49-F238E27FC236}">
                <a16:creationId xmlns:a16="http://schemas.microsoft.com/office/drawing/2014/main" id="{2F7B805E-7572-4BD2-844D-243E5AB4EE1F}"/>
              </a:ext>
            </a:extLst>
          </p:cNvPr>
          <p:cNvSpPr>
            <a:spLocks noGrp="1"/>
          </p:cNvSpPr>
          <p:nvPr/>
        </p:nvSpPr>
        <p:spPr>
          <a:xfrm>
            <a:off x="3181350" y="219075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NUXT</a:t>
            </a:r>
          </a:p>
        </p:txBody>
      </p:sp>
      <p:sp>
        <p:nvSpPr>
          <p:cNvPr id="10" name="s12-head-sub-0">
            <a:extLst>
              <a:ext uri="{FF2B5EF4-FFF2-40B4-BE49-F238E27FC236}">
                <a16:creationId xmlns:a16="http://schemas.microsoft.com/office/drawing/2014/main" id="{4B077C32-8240-439F-9996-3BDBCBE1B9AF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CFEDEA"/>
                </a:solidFill>
              </a:defRPr>
            </a:pPr>
            <a:r>
              <a:rPr sz="975" b="0">
                <a:solidFill>
                  <a:srgbClr val="CFEDEA"/>
                </a:solidFill>
              </a:rPr>
              <a:t>Vue + Nitro</a:t>
            </a:r>
          </a:p>
        </p:txBody>
      </p:sp>
      <p:sp>
        <p:nvSpPr>
          <p:cNvPr id="11" name="s12-head-1">
            <a:extLst>
              <a:ext uri="{FF2B5EF4-FFF2-40B4-BE49-F238E27FC236}">
                <a16:creationId xmlns:a16="http://schemas.microsoft.com/office/drawing/2014/main" id="{85345028-F8BC-4CF2-AC1A-4AF79C74126F}"/>
              </a:ext>
            </a:extLst>
          </p:cNvPr>
          <p:cNvSpPr>
            <a:spLocks noGrp="1"/>
          </p:cNvSpPr>
          <p:nvPr/>
        </p:nvSpPr>
        <p:spPr>
          <a:xfrm>
            <a:off x="5848350" y="2076450"/>
            <a:ext cx="24574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B9D8D4"/>
            </a:solidFill>
            <a:prstDash val="solid"/>
          </a:ln>
        </p:spPr>
      </p:sp>
      <p:sp>
        <p:nvSpPr>
          <p:cNvPr id="12" name="s12-head-title-1">
            <a:extLst>
              <a:ext uri="{FF2B5EF4-FFF2-40B4-BE49-F238E27FC236}">
                <a16:creationId xmlns:a16="http://schemas.microsoft.com/office/drawing/2014/main" id="{5DA07DD6-FBF7-4FEF-A92F-B7931C2E6A5A}"/>
              </a:ext>
            </a:extLst>
          </p:cNvPr>
          <p:cNvSpPr>
            <a:spLocks noGrp="1"/>
          </p:cNvSpPr>
          <p:nvPr/>
        </p:nvSpPr>
        <p:spPr>
          <a:xfrm>
            <a:off x="6000750" y="219075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NEXT.JS</a:t>
            </a:r>
          </a:p>
        </p:txBody>
      </p:sp>
      <p:sp>
        <p:nvSpPr>
          <p:cNvPr id="13" name="s12-head-sub-1">
            <a:extLst>
              <a:ext uri="{FF2B5EF4-FFF2-40B4-BE49-F238E27FC236}">
                <a16:creationId xmlns:a16="http://schemas.microsoft.com/office/drawing/2014/main" id="{E9D8AAB0-F833-4255-89DC-49DD08F6EF49}"/>
              </a:ext>
            </a:extLst>
          </p:cNvPr>
          <p:cNvSpPr>
            <a:spLocks noGrp="1"/>
          </p:cNvSpPr>
          <p:nvPr/>
        </p:nvSpPr>
        <p:spPr>
          <a:xfrm>
            <a:off x="6000750" y="24955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React + server framework</a:t>
            </a:r>
          </a:p>
        </p:txBody>
      </p:sp>
      <p:sp>
        <p:nvSpPr>
          <p:cNvPr id="14" name="s12-head-2">
            <a:extLst>
              <a:ext uri="{FF2B5EF4-FFF2-40B4-BE49-F238E27FC236}">
                <a16:creationId xmlns:a16="http://schemas.microsoft.com/office/drawing/2014/main" id="{2893B12E-F4A7-475C-A599-003409424C5C}"/>
              </a:ext>
            </a:extLst>
          </p:cNvPr>
          <p:cNvSpPr>
            <a:spLocks noGrp="1"/>
          </p:cNvSpPr>
          <p:nvPr/>
        </p:nvSpPr>
        <p:spPr>
          <a:xfrm>
            <a:off x="8667750" y="2076450"/>
            <a:ext cx="24574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B9D8D4"/>
            </a:solidFill>
            <a:prstDash val="solid"/>
          </a:ln>
        </p:spPr>
      </p:sp>
      <p:sp>
        <p:nvSpPr>
          <p:cNvPr id="15" name="s12-head-title-2">
            <a:extLst>
              <a:ext uri="{FF2B5EF4-FFF2-40B4-BE49-F238E27FC236}">
                <a16:creationId xmlns:a16="http://schemas.microsoft.com/office/drawing/2014/main" id="{D794BDAB-C5CD-4087-90D8-6BEFA8AE4567}"/>
              </a:ext>
            </a:extLst>
          </p:cNvPr>
          <p:cNvSpPr>
            <a:spLocks noGrp="1"/>
          </p:cNvSpPr>
          <p:nvPr/>
        </p:nvSpPr>
        <p:spPr>
          <a:xfrm>
            <a:off x="8820150" y="219075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SPA + API</a:t>
            </a:r>
          </a:p>
        </p:txBody>
      </p:sp>
      <p:sp>
        <p:nvSpPr>
          <p:cNvPr id="16" name="s12-head-sub-2">
            <a:extLst>
              <a:ext uri="{FF2B5EF4-FFF2-40B4-BE49-F238E27FC236}">
                <a16:creationId xmlns:a16="http://schemas.microsoft.com/office/drawing/2014/main" id="{98359907-EB56-4B0A-B98D-9E833D314F43}"/>
              </a:ext>
            </a:extLst>
          </p:cNvPr>
          <p:cNvSpPr>
            <a:spLocks noGrp="1"/>
          </p:cNvSpPr>
          <p:nvPr/>
        </p:nvSpPr>
        <p:spPr>
          <a:xfrm>
            <a:off x="8820150" y="24955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separate applications</a:t>
            </a:r>
          </a:p>
        </p:txBody>
      </p:sp>
      <p:sp>
        <p:nvSpPr>
          <p:cNvPr id="17" name="s12-row-label-0">
            <a:extLst>
              <a:ext uri="{FF2B5EF4-FFF2-40B4-BE49-F238E27FC236}">
                <a16:creationId xmlns:a16="http://schemas.microsoft.com/office/drawing/2014/main" id="{534F7B97-E5DF-4441-9422-B39B9C89B38F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92F2E"/>
                </a:solidFill>
              </a:defRPr>
            </a:pPr>
            <a:r>
              <a:rPr sz="1275" b="1">
                <a:solidFill>
                  <a:srgbClr val="092F2E"/>
                </a:solidFill>
              </a:rPr>
              <a:t>Team fluency</a:t>
            </a:r>
          </a:p>
        </p:txBody>
      </p:sp>
      <p:sp>
        <p:nvSpPr>
          <p:cNvPr id="18" name="s12-cell-bg-0-0">
            <a:extLst>
              <a:ext uri="{FF2B5EF4-FFF2-40B4-BE49-F238E27FC236}">
                <a16:creationId xmlns:a16="http://schemas.microsoft.com/office/drawing/2014/main" id="{F8D2378F-3EB4-44A6-8F6E-25227A79DAEF}"/>
              </a:ext>
            </a:extLst>
          </p:cNvPr>
          <p:cNvSpPr>
            <a:spLocks noGrp="1"/>
          </p:cNvSpPr>
          <p:nvPr/>
        </p:nvSpPr>
        <p:spPr>
          <a:xfrm>
            <a:off x="3028950" y="29908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s12-cell-0-0">
            <a:extLst>
              <a:ext uri="{FF2B5EF4-FFF2-40B4-BE49-F238E27FC236}">
                <a16:creationId xmlns:a16="http://schemas.microsoft.com/office/drawing/2014/main" id="{990FB3FB-8278-4170-A1B6-6602D33E3105}"/>
              </a:ext>
            </a:extLst>
          </p:cNvPr>
          <p:cNvSpPr>
            <a:spLocks noGrp="1"/>
          </p:cNvSpPr>
          <p:nvPr/>
        </p:nvSpPr>
        <p:spPr>
          <a:xfrm>
            <a:off x="3162300" y="31051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Vue</a:t>
            </a:r>
          </a:p>
        </p:txBody>
      </p:sp>
      <p:sp>
        <p:nvSpPr>
          <p:cNvPr id="20" name="s12-cell-bg-0-1">
            <a:extLst>
              <a:ext uri="{FF2B5EF4-FFF2-40B4-BE49-F238E27FC236}">
                <a16:creationId xmlns:a16="http://schemas.microsoft.com/office/drawing/2014/main" id="{CCA16C2C-7B03-48F9-9123-0771E20EBF5B}"/>
              </a:ext>
            </a:extLst>
          </p:cNvPr>
          <p:cNvSpPr>
            <a:spLocks noGrp="1"/>
          </p:cNvSpPr>
          <p:nvPr/>
        </p:nvSpPr>
        <p:spPr>
          <a:xfrm>
            <a:off x="5848350" y="29908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" name="s12-cell-0-1">
            <a:extLst>
              <a:ext uri="{FF2B5EF4-FFF2-40B4-BE49-F238E27FC236}">
                <a16:creationId xmlns:a16="http://schemas.microsoft.com/office/drawing/2014/main" id="{19CC61A6-A32F-43C1-BCA5-122081C6134E}"/>
              </a:ext>
            </a:extLst>
          </p:cNvPr>
          <p:cNvSpPr>
            <a:spLocks noGrp="1"/>
          </p:cNvSpPr>
          <p:nvPr/>
        </p:nvSpPr>
        <p:spPr>
          <a:xfrm>
            <a:off x="5981700" y="31051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React</a:t>
            </a:r>
          </a:p>
        </p:txBody>
      </p:sp>
      <p:sp>
        <p:nvSpPr>
          <p:cNvPr id="22" name="s12-cell-bg-0-2">
            <a:extLst>
              <a:ext uri="{FF2B5EF4-FFF2-40B4-BE49-F238E27FC236}">
                <a16:creationId xmlns:a16="http://schemas.microsoft.com/office/drawing/2014/main" id="{6F0295D0-A391-41A9-8E0D-349AB8D9D696}"/>
              </a:ext>
            </a:extLst>
          </p:cNvPr>
          <p:cNvSpPr>
            <a:spLocks noGrp="1"/>
          </p:cNvSpPr>
          <p:nvPr/>
        </p:nvSpPr>
        <p:spPr>
          <a:xfrm>
            <a:off x="8667750" y="29908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s12-cell-0-2">
            <a:extLst>
              <a:ext uri="{FF2B5EF4-FFF2-40B4-BE49-F238E27FC236}">
                <a16:creationId xmlns:a16="http://schemas.microsoft.com/office/drawing/2014/main" id="{4C6BF4F3-95FD-4CDC-BC65-018412D45F32}"/>
              </a:ext>
            </a:extLst>
          </p:cNvPr>
          <p:cNvSpPr>
            <a:spLocks noGrp="1"/>
          </p:cNvSpPr>
          <p:nvPr/>
        </p:nvSpPr>
        <p:spPr>
          <a:xfrm>
            <a:off x="8801100" y="31051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split frontend/backend</a:t>
            </a:r>
          </a:p>
        </p:txBody>
      </p:sp>
      <p:sp>
        <p:nvSpPr>
          <p:cNvPr id="24" name="s12-row-rule-0">
            <a:extLst>
              <a:ext uri="{FF2B5EF4-FFF2-40B4-BE49-F238E27FC236}">
                <a16:creationId xmlns:a16="http://schemas.microsoft.com/office/drawing/2014/main" id="{8C3DA48B-0E67-4466-AA6E-1429A0E67518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10439400" cy="0"/>
          </a:xfrm>
          <a:prstGeom prst="line">
            <a:avLst/>
          </a:prstGeom>
          <a:noFill/>
          <a:ln w="9525">
            <a:solidFill>
              <a:srgbClr val="C9E1DE"/>
            </a:solidFill>
            <a:prstDash val="solid"/>
          </a:ln>
        </p:spPr>
      </p:sp>
      <p:sp>
        <p:nvSpPr>
          <p:cNvPr id="25" name="s12-row-label-1">
            <a:extLst>
              <a:ext uri="{FF2B5EF4-FFF2-40B4-BE49-F238E27FC236}">
                <a16:creationId xmlns:a16="http://schemas.microsoft.com/office/drawing/2014/main" id="{F0082E36-9A34-4009-BEDF-7A92B15A0DF9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92F2E"/>
                </a:solidFill>
              </a:defRPr>
            </a:pPr>
            <a:r>
              <a:rPr sz="1275" b="1">
                <a:solidFill>
                  <a:srgbClr val="092F2E"/>
                </a:solidFill>
              </a:rPr>
              <a:t>Rendering</a:t>
            </a:r>
          </a:p>
        </p:txBody>
      </p:sp>
      <p:sp>
        <p:nvSpPr>
          <p:cNvPr id="26" name="s12-cell-1-0">
            <a:extLst>
              <a:ext uri="{FF2B5EF4-FFF2-40B4-BE49-F238E27FC236}">
                <a16:creationId xmlns:a16="http://schemas.microsoft.com/office/drawing/2014/main" id="{D657645B-AA2C-42DB-A55B-32E1C8CC1F74}"/>
              </a:ext>
            </a:extLst>
          </p:cNvPr>
          <p:cNvSpPr>
            <a:spLocks noGrp="1"/>
          </p:cNvSpPr>
          <p:nvPr/>
        </p:nvSpPr>
        <p:spPr>
          <a:xfrm>
            <a:off x="3162300" y="38100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route-level hybrid</a:t>
            </a:r>
          </a:p>
        </p:txBody>
      </p:sp>
      <p:sp>
        <p:nvSpPr>
          <p:cNvPr id="27" name="s12-cell-1-1">
            <a:extLst>
              <a:ext uri="{FF2B5EF4-FFF2-40B4-BE49-F238E27FC236}">
                <a16:creationId xmlns:a16="http://schemas.microsoft.com/office/drawing/2014/main" id="{EA476DD7-1B1C-4B4D-9B27-EF9666BCAB35}"/>
              </a:ext>
            </a:extLst>
          </p:cNvPr>
          <p:cNvSpPr>
            <a:spLocks noGrp="1"/>
          </p:cNvSpPr>
          <p:nvPr/>
        </p:nvSpPr>
        <p:spPr>
          <a:xfrm>
            <a:off x="5981700" y="38100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route-level hybrid</a:t>
            </a:r>
          </a:p>
        </p:txBody>
      </p:sp>
      <p:sp>
        <p:nvSpPr>
          <p:cNvPr id="28" name="s12-cell-1-2">
            <a:extLst>
              <a:ext uri="{FF2B5EF4-FFF2-40B4-BE49-F238E27FC236}">
                <a16:creationId xmlns:a16="http://schemas.microsoft.com/office/drawing/2014/main" id="{2E88BACD-6B0A-4B05-BB33-E90EB9107458}"/>
              </a:ext>
            </a:extLst>
          </p:cNvPr>
          <p:cNvSpPr>
            <a:spLocks noGrp="1"/>
          </p:cNvSpPr>
          <p:nvPr/>
        </p:nvSpPr>
        <p:spPr>
          <a:xfrm>
            <a:off x="8801100" y="38100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typically explicit</a:t>
            </a:r>
          </a:p>
        </p:txBody>
      </p:sp>
      <p:sp>
        <p:nvSpPr>
          <p:cNvPr id="29" name="s12-row-rule-1">
            <a:extLst>
              <a:ext uri="{FF2B5EF4-FFF2-40B4-BE49-F238E27FC236}">
                <a16:creationId xmlns:a16="http://schemas.microsoft.com/office/drawing/2014/main" id="{E2AE9BAA-6CC4-4D3E-9AB9-03B27E3196D1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0439400" cy="0"/>
          </a:xfrm>
          <a:prstGeom prst="line">
            <a:avLst/>
          </a:prstGeom>
          <a:noFill/>
          <a:ln w="9525">
            <a:solidFill>
              <a:srgbClr val="C9E1DE"/>
            </a:solidFill>
            <a:prstDash val="solid"/>
          </a:ln>
        </p:spPr>
      </p:sp>
      <p:sp>
        <p:nvSpPr>
          <p:cNvPr id="30" name="s12-row-label-2">
            <a:extLst>
              <a:ext uri="{FF2B5EF4-FFF2-40B4-BE49-F238E27FC236}">
                <a16:creationId xmlns:a16="http://schemas.microsoft.com/office/drawing/2014/main" id="{4E24155B-3EA3-4614-82B6-635D64B909D5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92F2E"/>
                </a:solidFill>
              </a:defRPr>
            </a:pPr>
            <a:r>
              <a:rPr sz="1275" b="1">
                <a:solidFill>
                  <a:srgbClr val="092F2E"/>
                </a:solidFill>
              </a:rPr>
              <a:t>Server surface</a:t>
            </a:r>
          </a:p>
        </p:txBody>
      </p:sp>
      <p:sp>
        <p:nvSpPr>
          <p:cNvPr id="31" name="s12-cell-bg-2-0">
            <a:extLst>
              <a:ext uri="{FF2B5EF4-FFF2-40B4-BE49-F238E27FC236}">
                <a16:creationId xmlns:a16="http://schemas.microsoft.com/office/drawing/2014/main" id="{300C1703-9260-4397-9B59-C5E68272A030}"/>
              </a:ext>
            </a:extLst>
          </p:cNvPr>
          <p:cNvSpPr>
            <a:spLocks noGrp="1"/>
          </p:cNvSpPr>
          <p:nvPr/>
        </p:nvSpPr>
        <p:spPr>
          <a:xfrm>
            <a:off x="3028950" y="44005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2" name="s12-cell-2-0">
            <a:extLst>
              <a:ext uri="{FF2B5EF4-FFF2-40B4-BE49-F238E27FC236}">
                <a16:creationId xmlns:a16="http://schemas.microsoft.com/office/drawing/2014/main" id="{376616F0-B39A-498E-A43A-6FC4D7ABD650}"/>
              </a:ext>
            </a:extLst>
          </p:cNvPr>
          <p:cNvSpPr>
            <a:spLocks noGrp="1"/>
          </p:cNvSpPr>
          <p:nvPr/>
        </p:nvSpPr>
        <p:spPr>
          <a:xfrm>
            <a:off x="3162300" y="45148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Nitro in one repo</a:t>
            </a:r>
          </a:p>
        </p:txBody>
      </p:sp>
      <p:sp>
        <p:nvSpPr>
          <p:cNvPr id="33" name="s12-cell-bg-2-1">
            <a:extLst>
              <a:ext uri="{FF2B5EF4-FFF2-40B4-BE49-F238E27FC236}">
                <a16:creationId xmlns:a16="http://schemas.microsoft.com/office/drawing/2014/main" id="{DDA271E6-3F71-4970-8A5A-F2552B657775}"/>
              </a:ext>
            </a:extLst>
          </p:cNvPr>
          <p:cNvSpPr>
            <a:spLocks noGrp="1"/>
          </p:cNvSpPr>
          <p:nvPr/>
        </p:nvSpPr>
        <p:spPr>
          <a:xfrm>
            <a:off x="5848350" y="44005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4" name="s12-cell-2-1">
            <a:extLst>
              <a:ext uri="{FF2B5EF4-FFF2-40B4-BE49-F238E27FC236}">
                <a16:creationId xmlns:a16="http://schemas.microsoft.com/office/drawing/2014/main" id="{61195D72-7137-411D-9FA0-B5082E18B247}"/>
              </a:ext>
            </a:extLst>
          </p:cNvPr>
          <p:cNvSpPr>
            <a:spLocks noGrp="1"/>
          </p:cNvSpPr>
          <p:nvPr/>
        </p:nvSpPr>
        <p:spPr>
          <a:xfrm>
            <a:off x="5981700" y="45148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server functions/routes</a:t>
            </a:r>
          </a:p>
        </p:txBody>
      </p:sp>
      <p:sp>
        <p:nvSpPr>
          <p:cNvPr id="35" name="s12-cell-bg-2-2">
            <a:extLst>
              <a:ext uri="{FF2B5EF4-FFF2-40B4-BE49-F238E27FC236}">
                <a16:creationId xmlns:a16="http://schemas.microsoft.com/office/drawing/2014/main" id="{B4D7075E-0F37-4F7D-AD50-72C80F6B1E68}"/>
              </a:ext>
            </a:extLst>
          </p:cNvPr>
          <p:cNvSpPr>
            <a:spLocks noGrp="1"/>
          </p:cNvSpPr>
          <p:nvPr/>
        </p:nvSpPr>
        <p:spPr>
          <a:xfrm>
            <a:off x="8667750" y="44005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6" name="s12-cell-2-2">
            <a:extLst>
              <a:ext uri="{FF2B5EF4-FFF2-40B4-BE49-F238E27FC236}">
                <a16:creationId xmlns:a16="http://schemas.microsoft.com/office/drawing/2014/main" id="{DDDA8772-150F-4524-9455-4F452677F987}"/>
              </a:ext>
            </a:extLst>
          </p:cNvPr>
          <p:cNvSpPr>
            <a:spLocks noGrp="1"/>
          </p:cNvSpPr>
          <p:nvPr/>
        </p:nvSpPr>
        <p:spPr>
          <a:xfrm>
            <a:off x="8801100" y="45148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separate API</a:t>
            </a:r>
          </a:p>
        </p:txBody>
      </p:sp>
      <p:sp>
        <p:nvSpPr>
          <p:cNvPr id="37" name="s12-row-rule-2">
            <a:extLst>
              <a:ext uri="{FF2B5EF4-FFF2-40B4-BE49-F238E27FC236}">
                <a16:creationId xmlns:a16="http://schemas.microsoft.com/office/drawing/2014/main" id="{5A961CE3-3D23-4315-8A1E-D7DB0426F500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439400" cy="0"/>
          </a:xfrm>
          <a:prstGeom prst="line">
            <a:avLst/>
          </a:prstGeom>
          <a:noFill/>
          <a:ln w="9525">
            <a:solidFill>
              <a:srgbClr val="C9E1DE"/>
            </a:solidFill>
            <a:prstDash val="solid"/>
          </a:ln>
        </p:spPr>
      </p:sp>
      <p:sp>
        <p:nvSpPr>
          <p:cNvPr id="38" name="s12-row-label-3">
            <a:extLst>
              <a:ext uri="{FF2B5EF4-FFF2-40B4-BE49-F238E27FC236}">
                <a16:creationId xmlns:a16="http://schemas.microsoft.com/office/drawing/2014/main" id="{DC6F10A5-A840-4494-A955-4ECF871AC6D9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92F2E"/>
                </a:solidFill>
              </a:defRPr>
            </a:pPr>
            <a:r>
              <a:rPr sz="1275" b="1">
                <a:solidFill>
                  <a:srgbClr val="092F2E"/>
                </a:solidFill>
              </a:rPr>
              <a:t>Best when…</a:t>
            </a:r>
          </a:p>
        </p:txBody>
      </p:sp>
      <p:sp>
        <p:nvSpPr>
          <p:cNvPr id="39" name="s12-cell-3-0">
            <a:extLst>
              <a:ext uri="{FF2B5EF4-FFF2-40B4-BE49-F238E27FC236}">
                <a16:creationId xmlns:a16="http://schemas.microsoft.com/office/drawing/2014/main" id="{E54B2221-D3AF-42A6-900D-76EED46B5B5C}"/>
              </a:ext>
            </a:extLst>
          </p:cNvPr>
          <p:cNvSpPr>
            <a:spLocks noGrp="1"/>
          </p:cNvSpPr>
          <p:nvPr/>
        </p:nvSpPr>
        <p:spPr>
          <a:xfrm>
            <a:off x="3162300" y="52197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one Vue team owns flow</a:t>
            </a:r>
          </a:p>
        </p:txBody>
      </p:sp>
      <p:sp>
        <p:nvSpPr>
          <p:cNvPr id="40" name="s12-cell-3-1">
            <a:extLst>
              <a:ext uri="{FF2B5EF4-FFF2-40B4-BE49-F238E27FC236}">
                <a16:creationId xmlns:a16="http://schemas.microsoft.com/office/drawing/2014/main" id="{D0D1AED2-ADD5-439F-AB71-B439A81D4603}"/>
              </a:ext>
            </a:extLst>
          </p:cNvPr>
          <p:cNvSpPr>
            <a:spLocks noGrp="1"/>
          </p:cNvSpPr>
          <p:nvPr/>
        </p:nvSpPr>
        <p:spPr>
          <a:xfrm>
            <a:off x="5981700" y="52197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one React team owns flow</a:t>
            </a:r>
          </a:p>
        </p:txBody>
      </p:sp>
      <p:sp>
        <p:nvSpPr>
          <p:cNvPr id="41" name="s12-cell-3-2">
            <a:extLst>
              <a:ext uri="{FF2B5EF4-FFF2-40B4-BE49-F238E27FC236}">
                <a16:creationId xmlns:a16="http://schemas.microsoft.com/office/drawing/2014/main" id="{DF58BC60-AE53-4716-A6D1-0E256A2E3CA3}"/>
              </a:ext>
            </a:extLst>
          </p:cNvPr>
          <p:cNvSpPr>
            <a:spLocks noGrp="1"/>
          </p:cNvSpPr>
          <p:nvPr/>
        </p:nvSpPr>
        <p:spPr>
          <a:xfrm>
            <a:off x="8801100" y="52197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boundaries need independence</a:t>
            </a:r>
          </a:p>
        </p:txBody>
      </p:sp>
      <p:sp>
        <p:nvSpPr>
          <p:cNvPr id="42" name="s12-row-rule-3">
            <a:extLst>
              <a:ext uri="{FF2B5EF4-FFF2-40B4-BE49-F238E27FC236}">
                <a16:creationId xmlns:a16="http://schemas.microsoft.com/office/drawing/2014/main" id="{3AB7C759-32FF-4A4A-9BAA-EAF2AF5973BF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439400" cy="0"/>
          </a:xfrm>
          <a:prstGeom prst="line">
            <a:avLst/>
          </a:prstGeom>
          <a:noFill/>
          <a:ln w="9525">
            <a:solidFill>
              <a:srgbClr val="C9E1D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78478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yebrow-13">
            <a:extLst>
              <a:ext uri="{FF2B5EF4-FFF2-40B4-BE49-F238E27FC236}">
                <a16:creationId xmlns:a16="http://schemas.microsoft.com/office/drawing/2014/main" id="{3C141CE0-1D26-478E-ABB4-A96EA6783C5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13">
            <a:extLst>
              <a:ext uri="{FF2B5EF4-FFF2-40B4-BE49-F238E27FC236}">
                <a16:creationId xmlns:a16="http://schemas.microsoft.com/office/drawing/2014/main" id="{F8A8EDA0-16F6-413E-BB17-1F4435BE3BB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Public data needs rendering, caching and privacy together</a:t>
            </a:r>
          </a:p>
        </p:txBody>
      </p:sp>
      <p:sp>
        <p:nvSpPr>
          <p:cNvPr id="3" name="footer-rule-13">
            <a:extLst>
              <a:ext uri="{FF2B5EF4-FFF2-40B4-BE49-F238E27FC236}">
                <a16:creationId xmlns:a16="http://schemas.microsoft.com/office/drawing/2014/main" id="{DEF60022-7083-473D-B9F8-A930C9078B1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13">
            <a:extLst>
              <a:ext uri="{FF2B5EF4-FFF2-40B4-BE49-F238E27FC236}">
                <a16:creationId xmlns:a16="http://schemas.microsoft.com/office/drawing/2014/main" id="{36E699B3-9FB7-42BD-9FFE-4A34C300BC5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Mohammad</a:t>
            </a:r>
          </a:p>
        </p:txBody>
      </p:sp>
      <p:sp>
        <p:nvSpPr>
          <p:cNvPr id="5" name="footer-source-13">
            <a:extLst>
              <a:ext uri="{FF2B5EF4-FFF2-40B4-BE49-F238E27FC236}">
                <a16:creationId xmlns:a16="http://schemas.microsoft.com/office/drawing/2014/main" id="{527276AC-3F8E-475D-8EEB-3AA78F1F7C1C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13">
            <a:extLst>
              <a:ext uri="{FF2B5EF4-FFF2-40B4-BE49-F238E27FC236}">
                <a16:creationId xmlns:a16="http://schemas.microsoft.com/office/drawing/2014/main" id="{CC907CE5-F93D-4223-BB26-0C6013B31356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7" name="code-frame-13">
            <a:extLst>
              <a:ext uri="{FF2B5EF4-FFF2-40B4-BE49-F238E27FC236}">
                <a16:creationId xmlns:a16="http://schemas.microsoft.com/office/drawing/2014/main" id="{6BB7DCB3-9CA2-477C-9960-27F118DC8512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5638800" cy="4305300"/>
          </a:xfrm>
          <a:prstGeom prst="roundRect">
            <a:avLst>
              <a:gd name="adj" fmla="val 4425"/>
            </a:avLst>
          </a:prstGeom>
          <a:solidFill>
            <a:srgbClr val="0F172A"/>
          </a:solidFill>
          <a:ln w="9525">
            <a:solidFill>
              <a:srgbClr val="2432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code-dot-a-13">
            <a:extLst>
              <a:ext uri="{FF2B5EF4-FFF2-40B4-BE49-F238E27FC236}">
                <a16:creationId xmlns:a16="http://schemas.microsoft.com/office/drawing/2014/main" id="{FDEBA6FE-7B27-4373-9CAF-5A4444F5E813}"/>
              </a:ext>
            </a:extLst>
          </p:cNvPr>
          <p:cNvSpPr>
            <a:spLocks noGrp="1"/>
          </p:cNvSpPr>
          <p:nvPr/>
        </p:nvSpPr>
        <p:spPr>
          <a:xfrm>
            <a:off x="876300" y="173355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9" name="code-dot-b-13">
            <a:extLst>
              <a:ext uri="{FF2B5EF4-FFF2-40B4-BE49-F238E27FC236}">
                <a16:creationId xmlns:a16="http://schemas.microsoft.com/office/drawing/2014/main" id="{5E031073-7260-4845-A680-AA6029CCD365}"/>
              </a:ext>
            </a:extLst>
          </p:cNvPr>
          <p:cNvSpPr>
            <a:spLocks noGrp="1"/>
          </p:cNvSpPr>
          <p:nvPr/>
        </p:nvSpPr>
        <p:spPr>
          <a:xfrm>
            <a:off x="1028700" y="173355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0" name="code-dot-c-13">
            <a:extLst>
              <a:ext uri="{FF2B5EF4-FFF2-40B4-BE49-F238E27FC236}">
                <a16:creationId xmlns:a16="http://schemas.microsoft.com/office/drawing/2014/main" id="{25AF71FC-FE26-4DA2-AABC-7FB3F0C5AEFF}"/>
              </a:ext>
            </a:extLst>
          </p:cNvPr>
          <p:cNvSpPr>
            <a:spLocks noGrp="1"/>
          </p:cNvSpPr>
          <p:nvPr/>
        </p:nvSpPr>
        <p:spPr>
          <a:xfrm>
            <a:off x="1181100" y="173355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1" name="code-label-13">
            <a:extLst>
              <a:ext uri="{FF2B5EF4-FFF2-40B4-BE49-F238E27FC236}">
                <a16:creationId xmlns:a16="http://schemas.microsoft.com/office/drawing/2014/main" id="{9F54E156-5F1F-4849-964F-75EC9E798800}"/>
              </a:ext>
            </a:extLst>
          </p:cNvPr>
          <p:cNvSpPr>
            <a:spLocks noGrp="1"/>
          </p:cNvSpPr>
          <p:nvPr/>
        </p:nvSpPr>
        <p:spPr>
          <a:xfrm>
            <a:off x="1428750" y="1685925"/>
            <a:ext cx="470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12" name="code-inner-13">
            <a:extLst>
              <a:ext uri="{FF2B5EF4-FFF2-40B4-BE49-F238E27FC236}">
                <a16:creationId xmlns:a16="http://schemas.microsoft.com/office/drawing/2014/main" id="{6E286A44-DC60-4000-AA4F-1D299D978C22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5295900" cy="3638550"/>
          </a:xfrm>
          <a:prstGeom prst="roundRect">
            <a:avLst>
              <a:gd name="adj" fmla="val 3141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sp>
        <p:nvSpPr>
          <p:cNvPr id="15" name="s13-side-title">
            <a:extLst>
              <a:ext uri="{FF2B5EF4-FFF2-40B4-BE49-F238E27FC236}">
                <a16:creationId xmlns:a16="http://schemas.microsoft.com/office/drawing/2014/main" id="{C01F736A-275C-4067-852E-EDCECDD298F1}"/>
              </a:ext>
            </a:extLst>
          </p:cNvPr>
          <p:cNvSpPr>
            <a:spLocks noGrp="1"/>
          </p:cNvSpPr>
          <p:nvPr/>
        </p:nvSpPr>
        <p:spPr>
          <a:xfrm>
            <a:off x="6896100" y="1657350"/>
            <a:ext cx="4267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092F2E"/>
                </a:solidFill>
              </a:defRPr>
            </a:pPr>
            <a:r>
              <a:rPr sz="2250" b="1">
                <a:solidFill>
                  <a:srgbClr val="092F2E"/>
                </a:solidFill>
              </a:rPr>
              <a:t>A public page is a product boundary</a:t>
            </a:r>
          </a:p>
        </p:txBody>
      </p:sp>
      <p:sp>
        <p:nvSpPr>
          <p:cNvPr id="16" name="s13-gate-dot-0">
            <a:extLst>
              <a:ext uri="{FF2B5EF4-FFF2-40B4-BE49-F238E27FC236}">
                <a16:creationId xmlns:a16="http://schemas.microsoft.com/office/drawing/2014/main" id="{26D07906-BDFF-437C-9269-F546987A9D04}"/>
              </a:ext>
            </a:extLst>
          </p:cNvPr>
          <p:cNvSpPr>
            <a:spLocks noGrp="1"/>
          </p:cNvSpPr>
          <p:nvPr/>
        </p:nvSpPr>
        <p:spPr>
          <a:xfrm>
            <a:off x="6896100" y="2628900"/>
            <a:ext cx="342900" cy="3429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7" name="s13-gate-num-0">
            <a:extLst>
              <a:ext uri="{FF2B5EF4-FFF2-40B4-BE49-F238E27FC236}">
                <a16:creationId xmlns:a16="http://schemas.microsoft.com/office/drawing/2014/main" id="{427D4172-5BA1-4A0F-9363-D66AE1796891}"/>
              </a:ext>
            </a:extLst>
          </p:cNvPr>
          <p:cNvSpPr>
            <a:spLocks noGrp="1"/>
          </p:cNvSpPr>
          <p:nvPr/>
        </p:nvSpPr>
        <p:spPr>
          <a:xfrm>
            <a:off x="6896100" y="269557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1</a:t>
            </a:r>
          </a:p>
        </p:txBody>
      </p:sp>
      <p:sp>
        <p:nvSpPr>
          <p:cNvPr id="18" name="s13-gate-title-0">
            <a:extLst>
              <a:ext uri="{FF2B5EF4-FFF2-40B4-BE49-F238E27FC236}">
                <a16:creationId xmlns:a16="http://schemas.microsoft.com/office/drawing/2014/main" id="{ABDB9936-FA29-43FB-9707-984210EF8D99}"/>
              </a:ext>
            </a:extLst>
          </p:cNvPr>
          <p:cNvSpPr>
            <a:spLocks noGrp="1"/>
          </p:cNvSpPr>
          <p:nvPr/>
        </p:nvSpPr>
        <p:spPr>
          <a:xfrm>
            <a:off x="7448550" y="26193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PUBLISH</a:t>
            </a:r>
          </a:p>
        </p:txBody>
      </p:sp>
      <p:sp>
        <p:nvSpPr>
          <p:cNvPr id="19" name="s13-gate-copy-0">
            <a:extLst>
              <a:ext uri="{FF2B5EF4-FFF2-40B4-BE49-F238E27FC236}">
                <a16:creationId xmlns:a16="http://schemas.microsoft.com/office/drawing/2014/main" id="{C732D3BA-310D-4661-B18E-B6C11494A918}"/>
              </a:ext>
            </a:extLst>
          </p:cNvPr>
          <p:cNvSpPr>
            <a:spLocks noGrp="1"/>
          </p:cNvSpPr>
          <p:nvPr/>
        </p:nvSpPr>
        <p:spPr>
          <a:xfrm>
            <a:off x="9086850" y="26193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only selected findings</a:t>
            </a:r>
          </a:p>
        </p:txBody>
      </p:sp>
      <p:sp>
        <p:nvSpPr>
          <p:cNvPr id="20" name="s13-gate-line-0">
            <a:extLst>
              <a:ext uri="{FF2B5EF4-FFF2-40B4-BE49-F238E27FC236}">
                <a16:creationId xmlns:a16="http://schemas.microsoft.com/office/drawing/2014/main" id="{25E01071-CD63-48DE-BB8F-5448A782A713}"/>
              </a:ext>
            </a:extLst>
          </p:cNvPr>
          <p:cNvSpPr>
            <a:spLocks noGrp="1"/>
          </p:cNvSpPr>
          <p:nvPr/>
        </p:nvSpPr>
        <p:spPr>
          <a:xfrm>
            <a:off x="7067550" y="2990850"/>
            <a:ext cx="0" cy="342900"/>
          </a:xfrm>
          <a:prstGeom prst="line">
            <a:avLst/>
          </a:prstGeom>
          <a:noFill/>
          <a:ln w="19050">
            <a:solidFill>
              <a:srgbClr val="BBDDD8"/>
            </a:solidFill>
            <a:prstDash val="solid"/>
          </a:ln>
        </p:spPr>
      </p:sp>
      <p:sp>
        <p:nvSpPr>
          <p:cNvPr id="21" name="s13-gate-dot-1">
            <a:extLst>
              <a:ext uri="{FF2B5EF4-FFF2-40B4-BE49-F238E27FC236}">
                <a16:creationId xmlns:a16="http://schemas.microsoft.com/office/drawing/2014/main" id="{41DB44DF-4897-46B9-90F5-222255A10734}"/>
              </a:ext>
            </a:extLst>
          </p:cNvPr>
          <p:cNvSpPr>
            <a:spLocks noGrp="1"/>
          </p:cNvSpPr>
          <p:nvPr/>
        </p:nvSpPr>
        <p:spPr>
          <a:xfrm>
            <a:off x="6896100" y="3352800"/>
            <a:ext cx="342900" cy="3429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2" name="s13-gate-num-1">
            <a:extLst>
              <a:ext uri="{FF2B5EF4-FFF2-40B4-BE49-F238E27FC236}">
                <a16:creationId xmlns:a16="http://schemas.microsoft.com/office/drawing/2014/main" id="{3F3622FC-0E97-4E0B-8594-CEE412A49504}"/>
              </a:ext>
            </a:extLst>
          </p:cNvPr>
          <p:cNvSpPr>
            <a:spLocks noGrp="1"/>
          </p:cNvSpPr>
          <p:nvPr/>
        </p:nvSpPr>
        <p:spPr>
          <a:xfrm>
            <a:off x="6896100" y="341947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2</a:t>
            </a:r>
          </a:p>
        </p:txBody>
      </p:sp>
      <p:sp>
        <p:nvSpPr>
          <p:cNvPr id="23" name="s13-gate-title-1">
            <a:extLst>
              <a:ext uri="{FF2B5EF4-FFF2-40B4-BE49-F238E27FC236}">
                <a16:creationId xmlns:a16="http://schemas.microsoft.com/office/drawing/2014/main" id="{55237282-FAEA-496F-BD8A-597B4456215F}"/>
              </a:ext>
            </a:extLst>
          </p:cNvPr>
          <p:cNvSpPr>
            <a:spLocks noGrp="1"/>
          </p:cNvSpPr>
          <p:nvPr/>
        </p:nvSpPr>
        <p:spPr>
          <a:xfrm>
            <a:off x="7448550" y="33432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AGGREGATE</a:t>
            </a:r>
          </a:p>
        </p:txBody>
      </p:sp>
      <p:sp>
        <p:nvSpPr>
          <p:cNvPr id="24" name="s13-gate-copy-1">
            <a:extLst>
              <a:ext uri="{FF2B5EF4-FFF2-40B4-BE49-F238E27FC236}">
                <a16:creationId xmlns:a16="http://schemas.microsoft.com/office/drawing/2014/main" id="{F5E3D27E-2056-48AE-8340-05D1FA2385EC}"/>
              </a:ext>
            </a:extLst>
          </p:cNvPr>
          <p:cNvSpPr>
            <a:spLocks noGrp="1"/>
          </p:cNvSpPr>
          <p:nvPr/>
        </p:nvSpPr>
        <p:spPr>
          <a:xfrm>
            <a:off x="9086850" y="33432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no raw private rows</a:t>
            </a:r>
          </a:p>
        </p:txBody>
      </p:sp>
      <p:sp>
        <p:nvSpPr>
          <p:cNvPr id="25" name="s13-gate-line-1">
            <a:extLst>
              <a:ext uri="{FF2B5EF4-FFF2-40B4-BE49-F238E27FC236}">
                <a16:creationId xmlns:a16="http://schemas.microsoft.com/office/drawing/2014/main" id="{3D3FC42B-C068-48C8-9C33-A235DC9D4E81}"/>
              </a:ext>
            </a:extLst>
          </p:cNvPr>
          <p:cNvSpPr>
            <a:spLocks noGrp="1"/>
          </p:cNvSpPr>
          <p:nvPr/>
        </p:nvSpPr>
        <p:spPr>
          <a:xfrm>
            <a:off x="7067550" y="3714750"/>
            <a:ext cx="0" cy="342900"/>
          </a:xfrm>
          <a:prstGeom prst="line">
            <a:avLst/>
          </a:prstGeom>
          <a:noFill/>
          <a:ln w="19050">
            <a:solidFill>
              <a:srgbClr val="BBDDD8"/>
            </a:solidFill>
            <a:prstDash val="solid"/>
          </a:ln>
        </p:spPr>
      </p:sp>
      <p:sp>
        <p:nvSpPr>
          <p:cNvPr id="26" name="s13-gate-dot-2">
            <a:extLst>
              <a:ext uri="{FF2B5EF4-FFF2-40B4-BE49-F238E27FC236}">
                <a16:creationId xmlns:a16="http://schemas.microsoft.com/office/drawing/2014/main" id="{873B6E68-2854-42E0-A846-D4970A0A8389}"/>
              </a:ext>
            </a:extLst>
          </p:cNvPr>
          <p:cNvSpPr>
            <a:spLocks noGrp="1"/>
          </p:cNvSpPr>
          <p:nvPr/>
        </p:nvSpPr>
        <p:spPr>
          <a:xfrm>
            <a:off x="6896100" y="4076700"/>
            <a:ext cx="342900" cy="34290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7" name="s13-gate-num-2">
            <a:extLst>
              <a:ext uri="{FF2B5EF4-FFF2-40B4-BE49-F238E27FC236}">
                <a16:creationId xmlns:a16="http://schemas.microsoft.com/office/drawing/2014/main" id="{DBE61F49-8CF2-456E-A959-90E4D76C8131}"/>
              </a:ext>
            </a:extLst>
          </p:cNvPr>
          <p:cNvSpPr>
            <a:spLocks noGrp="1"/>
          </p:cNvSpPr>
          <p:nvPr/>
        </p:nvSpPr>
        <p:spPr>
          <a:xfrm>
            <a:off x="6896100" y="414337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3</a:t>
            </a:r>
          </a:p>
        </p:txBody>
      </p:sp>
      <p:sp>
        <p:nvSpPr>
          <p:cNvPr id="28" name="s13-gate-title-2">
            <a:extLst>
              <a:ext uri="{FF2B5EF4-FFF2-40B4-BE49-F238E27FC236}">
                <a16:creationId xmlns:a16="http://schemas.microsoft.com/office/drawing/2014/main" id="{B57D43E4-80B6-467B-B385-80C19F7988FD}"/>
              </a:ext>
            </a:extLst>
          </p:cNvPr>
          <p:cNvSpPr>
            <a:spLocks noGrp="1"/>
          </p:cNvSpPr>
          <p:nvPr/>
        </p:nvSpPr>
        <p:spPr>
          <a:xfrm>
            <a:off x="7448550" y="40671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SUPPRESS</a:t>
            </a:r>
          </a:p>
        </p:txBody>
      </p:sp>
      <p:sp>
        <p:nvSpPr>
          <p:cNvPr id="29" name="s13-gate-copy-2">
            <a:extLst>
              <a:ext uri="{FF2B5EF4-FFF2-40B4-BE49-F238E27FC236}">
                <a16:creationId xmlns:a16="http://schemas.microsoft.com/office/drawing/2014/main" id="{6D8850BB-1033-402D-864F-5AE5FA31180A}"/>
              </a:ext>
            </a:extLst>
          </p:cNvPr>
          <p:cNvSpPr>
            <a:spLocks noGrp="1"/>
          </p:cNvSpPr>
          <p:nvPr/>
        </p:nvSpPr>
        <p:spPr>
          <a:xfrm>
            <a:off x="9086850" y="40671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fewer than 5 contributors</a:t>
            </a:r>
          </a:p>
        </p:txBody>
      </p:sp>
      <p:sp>
        <p:nvSpPr>
          <p:cNvPr id="30" name="s13-gate-line-2">
            <a:extLst>
              <a:ext uri="{FF2B5EF4-FFF2-40B4-BE49-F238E27FC236}">
                <a16:creationId xmlns:a16="http://schemas.microsoft.com/office/drawing/2014/main" id="{A90AC2D0-E0FD-4AC7-B1AB-DC547853EC46}"/>
              </a:ext>
            </a:extLst>
          </p:cNvPr>
          <p:cNvSpPr>
            <a:spLocks noGrp="1"/>
          </p:cNvSpPr>
          <p:nvPr/>
        </p:nvSpPr>
        <p:spPr>
          <a:xfrm>
            <a:off x="7067550" y="4438650"/>
            <a:ext cx="0" cy="342900"/>
          </a:xfrm>
          <a:prstGeom prst="line">
            <a:avLst/>
          </a:prstGeom>
          <a:noFill/>
          <a:ln w="19050">
            <a:solidFill>
              <a:srgbClr val="BBDDD8"/>
            </a:solidFill>
            <a:prstDash val="solid"/>
          </a:ln>
        </p:spPr>
      </p:sp>
      <p:sp>
        <p:nvSpPr>
          <p:cNvPr id="31" name="s13-gate-dot-3">
            <a:extLst>
              <a:ext uri="{FF2B5EF4-FFF2-40B4-BE49-F238E27FC236}">
                <a16:creationId xmlns:a16="http://schemas.microsoft.com/office/drawing/2014/main" id="{618CCAB2-7536-4E16-8281-A542426A4E57}"/>
              </a:ext>
            </a:extLst>
          </p:cNvPr>
          <p:cNvSpPr>
            <a:spLocks noGrp="1"/>
          </p:cNvSpPr>
          <p:nvPr/>
        </p:nvSpPr>
        <p:spPr>
          <a:xfrm>
            <a:off x="6896100" y="4800600"/>
            <a:ext cx="342900" cy="3429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32" name="s13-gate-num-3">
            <a:extLst>
              <a:ext uri="{FF2B5EF4-FFF2-40B4-BE49-F238E27FC236}">
                <a16:creationId xmlns:a16="http://schemas.microsoft.com/office/drawing/2014/main" id="{B1583CD9-6C12-419E-8A70-D5CF1CE570F9}"/>
              </a:ext>
            </a:extLst>
          </p:cNvPr>
          <p:cNvSpPr>
            <a:spLocks noGrp="1"/>
          </p:cNvSpPr>
          <p:nvPr/>
        </p:nvSpPr>
        <p:spPr>
          <a:xfrm>
            <a:off x="6896100" y="486727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4</a:t>
            </a:r>
          </a:p>
        </p:txBody>
      </p:sp>
      <p:sp>
        <p:nvSpPr>
          <p:cNvPr id="33" name="s13-gate-title-3">
            <a:extLst>
              <a:ext uri="{FF2B5EF4-FFF2-40B4-BE49-F238E27FC236}">
                <a16:creationId xmlns:a16="http://schemas.microsoft.com/office/drawing/2014/main" id="{022625B7-6708-4AD3-8F30-DDD30C130511}"/>
              </a:ext>
            </a:extLst>
          </p:cNvPr>
          <p:cNvSpPr>
            <a:spLocks noGrp="1"/>
          </p:cNvSpPr>
          <p:nvPr/>
        </p:nvSpPr>
        <p:spPr>
          <a:xfrm>
            <a:off x="7448550" y="47910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CACHE + SSR</a:t>
            </a:r>
          </a:p>
        </p:txBody>
      </p:sp>
      <p:sp>
        <p:nvSpPr>
          <p:cNvPr id="34" name="s13-gate-copy-3">
            <a:extLst>
              <a:ext uri="{FF2B5EF4-FFF2-40B4-BE49-F238E27FC236}">
                <a16:creationId xmlns:a16="http://schemas.microsoft.com/office/drawing/2014/main" id="{1A95A069-B540-4A20-B9B1-83CA9123721C}"/>
              </a:ext>
            </a:extLst>
          </p:cNvPr>
          <p:cNvSpPr>
            <a:spLocks noGrp="1"/>
          </p:cNvSpPr>
          <p:nvPr/>
        </p:nvSpPr>
        <p:spPr>
          <a:xfrm>
            <a:off x="9086850" y="47910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public HTML, controlled freshness</a:t>
            </a:r>
          </a:p>
        </p:txBody>
      </p:sp>
      <p:sp>
        <p:nvSpPr>
          <p:cNvPr id="35" name="s13-rule">
            <a:extLst>
              <a:ext uri="{FF2B5EF4-FFF2-40B4-BE49-F238E27FC236}">
                <a16:creationId xmlns:a16="http://schemas.microsoft.com/office/drawing/2014/main" id="{CCD9B391-F67F-4F05-B181-194A4CEDBC59}"/>
              </a:ext>
            </a:extLst>
          </p:cNvPr>
          <p:cNvSpPr>
            <a:spLocks noGrp="1"/>
          </p:cNvSpPr>
          <p:nvPr/>
        </p:nvSpPr>
        <p:spPr>
          <a:xfrm>
            <a:off x="6896100" y="5638800"/>
            <a:ext cx="4267200" cy="419100"/>
          </a:xfrm>
          <a:prstGeom prst="roundRect">
            <a:avLst>
              <a:gd name="adj" fmla="val 27273"/>
            </a:avLst>
          </a:prstGeom>
          <a:solidFill>
            <a:srgbClr val="D7FAF6"/>
          </a:solidFill>
          <a:ln w="0">
            <a:noFill/>
            <a:prstDash val="solid"/>
          </a:ln>
        </p:spPr>
      </p:sp>
      <p:sp>
        <p:nvSpPr>
          <p:cNvPr id="36" name="s13-rule-copy">
            <a:extLst>
              <a:ext uri="{FF2B5EF4-FFF2-40B4-BE49-F238E27FC236}">
                <a16:creationId xmlns:a16="http://schemas.microsoft.com/office/drawing/2014/main" id="{C3FE7EAF-1E6C-4B79-A5C4-2D61269182EB}"/>
              </a:ext>
            </a:extLst>
          </p:cNvPr>
          <p:cNvSpPr>
            <a:spLocks noGrp="1"/>
          </p:cNvSpPr>
          <p:nvPr/>
        </p:nvSpPr>
        <p:spPr>
          <a:xfrm>
            <a:off x="7067550" y="5743575"/>
            <a:ext cx="392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Privacy is enforced in the endpoint—not left to the interface.</a:t>
            </a: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/>
          <a:srcRect t="-3062" b="16394"/>
          <a:stretch/>
        </p:blipFill>
        <p:spPr>
          <a:xfrm>
            <a:off x="933450" y="2056042"/>
            <a:ext cx="5143500" cy="466725"/>
          </a:xfrm>
          <a:prstGeom prst="roundRect">
            <a:avLst>
              <a:gd name="adj" fmla="val 10526"/>
            </a:avLst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5601" y="2598967"/>
            <a:ext cx="3459198" cy="1943100"/>
          </a:xfrm>
          <a:prstGeom prst="roundRect">
            <a:avLst>
              <a:gd name="adj" fmla="val 1961"/>
            </a:avLst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207161" y="4618267"/>
            <a:ext cx="2596077" cy="1028700"/>
          </a:xfrm>
          <a:prstGeom prst="roundRect">
            <a:avLst>
              <a:gd name="adj" fmla="val 3704"/>
            </a:avLst>
          </a:prstGeom>
        </p:spPr>
      </p:pic>
    </p:spTree>
    <p:extLst>
      <p:ext uri="{BB962C8B-B14F-4D97-AF65-F5344CB8AC3E}">
        <p14:creationId xmlns:p14="http://schemas.microsoft.com/office/powerpoint/2010/main" val="20552863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eyebrow-14">
            <a:extLst>
              <a:ext uri="{FF2B5EF4-FFF2-40B4-BE49-F238E27FC236}">
                <a16:creationId xmlns:a16="http://schemas.microsoft.com/office/drawing/2014/main" id="{CCA53C55-E7B1-4095-99CF-F065126A23F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INSIGHTFLOW · NUXT / VUE</a:t>
            </a:r>
          </a:p>
        </p:txBody>
      </p:sp>
      <p:sp>
        <p:nvSpPr>
          <p:cNvPr id="2" name="title-14">
            <a:extLst>
              <a:ext uri="{FF2B5EF4-FFF2-40B4-BE49-F238E27FC236}">
                <a16:creationId xmlns:a16="http://schemas.microsoft.com/office/drawing/2014/main" id="{AA359BE6-9772-44D5-926E-68AAE35DE77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Nuxt connects Vue to an application ecosystem</a:t>
            </a:r>
          </a:p>
        </p:txBody>
      </p:sp>
      <p:sp>
        <p:nvSpPr>
          <p:cNvPr id="3" name="footer-rule-14">
            <a:extLst>
              <a:ext uri="{FF2B5EF4-FFF2-40B4-BE49-F238E27FC236}">
                <a16:creationId xmlns:a16="http://schemas.microsoft.com/office/drawing/2014/main" id="{034FDC94-C097-406A-8FC5-82FCD9FBC13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footer-presenter-14">
            <a:extLst>
              <a:ext uri="{FF2B5EF4-FFF2-40B4-BE49-F238E27FC236}">
                <a16:creationId xmlns:a16="http://schemas.microsoft.com/office/drawing/2014/main" id="{3362712B-EA38-4684-9952-A7A74845892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Mohammad</a:t>
            </a:r>
          </a:p>
        </p:txBody>
      </p:sp>
      <p:sp>
        <p:nvSpPr>
          <p:cNvPr id="5" name="footer-source-14">
            <a:extLst>
              <a:ext uri="{FF2B5EF4-FFF2-40B4-BE49-F238E27FC236}">
                <a16:creationId xmlns:a16="http://schemas.microsoft.com/office/drawing/2014/main" id="{972B3002-5FED-4EA8-81ED-89E2A537A966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6" name="footer-number-14">
            <a:extLst>
              <a:ext uri="{FF2B5EF4-FFF2-40B4-BE49-F238E27FC236}">
                <a16:creationId xmlns:a16="http://schemas.microsoft.com/office/drawing/2014/main" id="{3D6B9191-171F-4D77-9205-D77EA1377B0E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14</a:t>
            </a:r>
          </a:p>
        </p:txBody>
      </p:sp>
      <p:sp>
        <p:nvSpPr>
          <p:cNvPr id="7" name="s14-halo">
            <a:extLst>
              <a:ext uri="{FF2B5EF4-FFF2-40B4-BE49-F238E27FC236}">
                <a16:creationId xmlns:a16="http://schemas.microsoft.com/office/drawing/2014/main" id="{69DA3D18-C459-4C01-BE8D-5BE4ADA72613}"/>
              </a:ext>
            </a:extLst>
          </p:cNvPr>
          <p:cNvSpPr>
            <a:spLocks noGrp="1"/>
          </p:cNvSpPr>
          <p:nvPr/>
        </p:nvSpPr>
        <p:spPr>
          <a:xfrm>
            <a:off x="4152900" y="1790700"/>
            <a:ext cx="3886200" cy="3886200"/>
          </a:xfrm>
          <a:prstGeom prst="ellipse">
            <a:avLst/>
          </a:prstGeom>
          <a:solidFill>
            <a:srgbClr val="0D403D"/>
          </a:solidFill>
          <a:ln w="0">
            <a:noFill/>
            <a:prstDash val="solid"/>
          </a:ln>
        </p:spPr>
      </p:sp>
      <p:sp>
        <p:nvSpPr>
          <p:cNvPr id="8" name="s14-center">
            <a:extLst>
              <a:ext uri="{FF2B5EF4-FFF2-40B4-BE49-F238E27FC236}">
                <a16:creationId xmlns:a16="http://schemas.microsoft.com/office/drawing/2014/main" id="{794601BC-9A2E-405C-8748-B6310A711062}"/>
              </a:ext>
            </a:extLst>
          </p:cNvPr>
          <p:cNvSpPr>
            <a:spLocks noGrp="1"/>
          </p:cNvSpPr>
          <p:nvPr/>
        </p:nvSpPr>
        <p:spPr>
          <a:xfrm>
            <a:off x="4781550" y="3009900"/>
            <a:ext cx="2628900" cy="1200150"/>
          </a:xfrm>
          <a:prstGeom prst="roundRect">
            <a:avLst>
              <a:gd name="adj" fmla="val 12698"/>
            </a:avLst>
          </a:prstGeom>
          <a:solidFill>
            <a:srgbClr val="092F2E"/>
          </a:solidFill>
          <a:ln w="19050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9" name="s14-center-title">
            <a:extLst>
              <a:ext uri="{FF2B5EF4-FFF2-40B4-BE49-F238E27FC236}">
                <a16:creationId xmlns:a16="http://schemas.microsoft.com/office/drawing/2014/main" id="{D387A697-0AAB-4E9F-B08B-DC0CAA4BBD99}"/>
              </a:ext>
            </a:extLst>
          </p:cNvPr>
          <p:cNvSpPr>
            <a:spLocks noGrp="1"/>
          </p:cNvSpPr>
          <p:nvPr/>
        </p:nvSpPr>
        <p:spPr>
          <a:xfrm>
            <a:off x="4953000" y="31718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NUXT 4</a:t>
            </a:r>
          </a:p>
        </p:txBody>
      </p:sp>
      <p:sp>
        <p:nvSpPr>
          <p:cNvPr id="10" name="s14-center-caption">
            <a:extLst>
              <a:ext uri="{FF2B5EF4-FFF2-40B4-BE49-F238E27FC236}">
                <a16:creationId xmlns:a16="http://schemas.microsoft.com/office/drawing/2014/main" id="{53CDF7EB-7383-4193-9819-3A042F6E3D1D}"/>
              </a:ext>
            </a:extLst>
          </p:cNvPr>
          <p:cNvSpPr>
            <a:spLocks noGrp="1"/>
          </p:cNvSpPr>
          <p:nvPr/>
        </p:nvSpPr>
        <p:spPr>
          <a:xfrm>
            <a:off x="4953000" y="352425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the application boundary</a:t>
            </a:r>
          </a:p>
        </p:txBody>
      </p:sp>
      <p:sp>
        <p:nvSpPr>
          <p:cNvPr id="11" name="s14-node-0">
            <a:extLst>
              <a:ext uri="{FF2B5EF4-FFF2-40B4-BE49-F238E27FC236}">
                <a16:creationId xmlns:a16="http://schemas.microsoft.com/office/drawing/2014/main" id="{8229161B-36A7-4708-99DD-746DE8FAA3FB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14-node-0-title">
            <a:extLst>
              <a:ext uri="{FF2B5EF4-FFF2-40B4-BE49-F238E27FC236}">
                <a16:creationId xmlns:a16="http://schemas.microsoft.com/office/drawing/2014/main" id="{55DEAE8F-67E1-478E-A75E-DAFC8CA17243}"/>
              </a:ext>
            </a:extLst>
          </p:cNvPr>
          <p:cNvSpPr>
            <a:spLocks noGrp="1"/>
          </p:cNvSpPr>
          <p:nvPr/>
        </p:nvSpPr>
        <p:spPr>
          <a:xfrm>
            <a:off x="1047750" y="21240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VUE</a:t>
            </a:r>
          </a:p>
        </p:txBody>
      </p:sp>
      <p:sp>
        <p:nvSpPr>
          <p:cNvPr id="13" name="s14-node-0-caption">
            <a:extLst>
              <a:ext uri="{FF2B5EF4-FFF2-40B4-BE49-F238E27FC236}">
                <a16:creationId xmlns:a16="http://schemas.microsoft.com/office/drawing/2014/main" id="{A9A222AF-05D9-4714-A15C-CC785668C053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components + reactivity</a:t>
            </a:r>
          </a:p>
        </p:txBody>
      </p:sp>
      <p:sp>
        <p:nvSpPr>
          <p:cNvPr id="14" name="s14-node-1">
            <a:extLst>
              <a:ext uri="{FF2B5EF4-FFF2-40B4-BE49-F238E27FC236}">
                <a16:creationId xmlns:a16="http://schemas.microsoft.com/office/drawing/2014/main" id="{6D0F0458-24B1-4339-B126-36D0DC4995DD}"/>
              </a:ext>
            </a:extLst>
          </p:cNvPr>
          <p:cNvSpPr>
            <a:spLocks noGrp="1"/>
          </p:cNvSpPr>
          <p:nvPr/>
        </p:nvSpPr>
        <p:spPr>
          <a:xfrm>
            <a:off x="876300" y="451485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14-node-1-title">
            <a:extLst>
              <a:ext uri="{FF2B5EF4-FFF2-40B4-BE49-F238E27FC236}">
                <a16:creationId xmlns:a16="http://schemas.microsoft.com/office/drawing/2014/main" id="{75C39EF9-BEAD-4BF7-B209-920BE63ED5EF}"/>
              </a:ext>
            </a:extLst>
          </p:cNvPr>
          <p:cNvSpPr>
            <a:spLocks noGrp="1"/>
          </p:cNvSpPr>
          <p:nvPr/>
        </p:nvSpPr>
        <p:spPr>
          <a:xfrm>
            <a:off x="1047750" y="46767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ROUTING</a:t>
            </a:r>
          </a:p>
        </p:txBody>
      </p:sp>
      <p:sp>
        <p:nvSpPr>
          <p:cNvPr id="16" name="s14-node-1-caption">
            <a:extLst>
              <a:ext uri="{FF2B5EF4-FFF2-40B4-BE49-F238E27FC236}">
                <a16:creationId xmlns:a16="http://schemas.microsoft.com/office/drawing/2014/main" id="{0FE8D23D-11E7-407F-96DD-8EC6FAC64565}"/>
              </a:ext>
            </a:extLst>
          </p:cNvPr>
          <p:cNvSpPr>
            <a:spLocks noGrp="1"/>
          </p:cNvSpPr>
          <p:nvPr/>
        </p:nvSpPr>
        <p:spPr>
          <a:xfrm>
            <a:off x="1047750" y="50292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files become URLs</a:t>
            </a:r>
          </a:p>
        </p:txBody>
      </p:sp>
      <p:sp>
        <p:nvSpPr>
          <p:cNvPr id="17" name="s14-node-2">
            <a:extLst>
              <a:ext uri="{FF2B5EF4-FFF2-40B4-BE49-F238E27FC236}">
                <a16:creationId xmlns:a16="http://schemas.microsoft.com/office/drawing/2014/main" id="{1C8D8BBF-AB8D-44BF-B6B0-CF8D05BD5EEF}"/>
              </a:ext>
            </a:extLst>
          </p:cNvPr>
          <p:cNvSpPr>
            <a:spLocks noGrp="1"/>
          </p:cNvSpPr>
          <p:nvPr/>
        </p:nvSpPr>
        <p:spPr>
          <a:xfrm>
            <a:off x="8953500" y="196215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s14-node-2-title">
            <a:extLst>
              <a:ext uri="{FF2B5EF4-FFF2-40B4-BE49-F238E27FC236}">
                <a16:creationId xmlns:a16="http://schemas.microsoft.com/office/drawing/2014/main" id="{4443289D-9B35-4986-8588-C32D74085AF6}"/>
              </a:ext>
            </a:extLst>
          </p:cNvPr>
          <p:cNvSpPr>
            <a:spLocks noGrp="1"/>
          </p:cNvSpPr>
          <p:nvPr/>
        </p:nvSpPr>
        <p:spPr>
          <a:xfrm>
            <a:off x="9124950" y="21240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NITRO</a:t>
            </a:r>
          </a:p>
        </p:txBody>
      </p:sp>
      <p:sp>
        <p:nvSpPr>
          <p:cNvPr id="19" name="s14-node-2-caption">
            <a:extLst>
              <a:ext uri="{FF2B5EF4-FFF2-40B4-BE49-F238E27FC236}">
                <a16:creationId xmlns:a16="http://schemas.microsoft.com/office/drawing/2014/main" id="{D82A169C-C214-414A-8CDD-3133A6798AF3}"/>
              </a:ext>
            </a:extLst>
          </p:cNvPr>
          <p:cNvSpPr>
            <a:spLocks noGrp="1"/>
          </p:cNvSpPr>
          <p:nvPr/>
        </p:nvSpPr>
        <p:spPr>
          <a:xfrm>
            <a:off x="9124950" y="24765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server handlers</a:t>
            </a:r>
          </a:p>
        </p:txBody>
      </p:sp>
      <p:sp>
        <p:nvSpPr>
          <p:cNvPr id="20" name="s14-node-3">
            <a:extLst>
              <a:ext uri="{FF2B5EF4-FFF2-40B4-BE49-F238E27FC236}">
                <a16:creationId xmlns:a16="http://schemas.microsoft.com/office/drawing/2014/main" id="{5F8AAA75-46B4-407D-B6A3-342CF89388A4}"/>
              </a:ext>
            </a:extLst>
          </p:cNvPr>
          <p:cNvSpPr>
            <a:spLocks noGrp="1"/>
          </p:cNvSpPr>
          <p:nvPr/>
        </p:nvSpPr>
        <p:spPr>
          <a:xfrm>
            <a:off x="8953500" y="451485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s14-node-3-title">
            <a:extLst>
              <a:ext uri="{FF2B5EF4-FFF2-40B4-BE49-F238E27FC236}">
                <a16:creationId xmlns:a16="http://schemas.microsoft.com/office/drawing/2014/main" id="{C31B22FF-AD97-43AD-A185-5FD86FA819DC}"/>
              </a:ext>
            </a:extLst>
          </p:cNvPr>
          <p:cNvSpPr>
            <a:spLocks noGrp="1"/>
          </p:cNvSpPr>
          <p:nvPr/>
        </p:nvSpPr>
        <p:spPr>
          <a:xfrm>
            <a:off x="9124950" y="46767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RUNTIMECONFIG</a:t>
            </a:r>
          </a:p>
        </p:txBody>
      </p:sp>
      <p:sp>
        <p:nvSpPr>
          <p:cNvPr id="22" name="s14-node-3-caption">
            <a:extLst>
              <a:ext uri="{FF2B5EF4-FFF2-40B4-BE49-F238E27FC236}">
                <a16:creationId xmlns:a16="http://schemas.microsoft.com/office/drawing/2014/main" id="{DB28CA29-A3A5-4232-BE26-BC68B8C752E4}"/>
              </a:ext>
            </a:extLst>
          </p:cNvPr>
          <p:cNvSpPr>
            <a:spLocks noGrp="1"/>
          </p:cNvSpPr>
          <p:nvPr/>
        </p:nvSpPr>
        <p:spPr>
          <a:xfrm>
            <a:off x="9124950" y="50292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secrets + flags</a:t>
            </a:r>
          </a:p>
        </p:txBody>
      </p:sp>
      <p:sp>
        <p:nvSpPr>
          <p:cNvPr id="23" name="s14-node-4">
            <a:extLst>
              <a:ext uri="{FF2B5EF4-FFF2-40B4-BE49-F238E27FC236}">
                <a16:creationId xmlns:a16="http://schemas.microsoft.com/office/drawing/2014/main" id="{A2A3BF76-9FFB-4988-8FFF-1D257350FE8F}"/>
              </a:ext>
            </a:extLst>
          </p:cNvPr>
          <p:cNvSpPr>
            <a:spLocks noGrp="1"/>
          </p:cNvSpPr>
          <p:nvPr/>
        </p:nvSpPr>
        <p:spPr>
          <a:xfrm>
            <a:off x="3333750" y="521970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s14-node-4-title">
            <a:extLst>
              <a:ext uri="{FF2B5EF4-FFF2-40B4-BE49-F238E27FC236}">
                <a16:creationId xmlns:a16="http://schemas.microsoft.com/office/drawing/2014/main" id="{1BF55C9F-9322-47D3-818A-7FB2373949DC}"/>
              </a:ext>
            </a:extLst>
          </p:cNvPr>
          <p:cNvSpPr>
            <a:spLocks noGrp="1"/>
          </p:cNvSpPr>
          <p:nvPr/>
        </p:nvSpPr>
        <p:spPr>
          <a:xfrm>
            <a:off x="3505200" y="538162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ZOD</a:t>
            </a:r>
          </a:p>
        </p:txBody>
      </p:sp>
      <p:sp>
        <p:nvSpPr>
          <p:cNvPr id="25" name="s14-node-4-caption">
            <a:extLst>
              <a:ext uri="{FF2B5EF4-FFF2-40B4-BE49-F238E27FC236}">
                <a16:creationId xmlns:a16="http://schemas.microsoft.com/office/drawing/2014/main" id="{3E3258F2-035D-4C7F-9C95-34596AAB80F0}"/>
              </a:ext>
            </a:extLst>
          </p:cNvPr>
          <p:cNvSpPr>
            <a:spLocks noGrp="1"/>
          </p:cNvSpPr>
          <p:nvPr/>
        </p:nvSpPr>
        <p:spPr>
          <a:xfrm>
            <a:off x="3505200" y="573405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shared contracts</a:t>
            </a:r>
          </a:p>
        </p:txBody>
      </p:sp>
      <p:sp>
        <p:nvSpPr>
          <p:cNvPr id="26" name="s14-node-5">
            <a:extLst>
              <a:ext uri="{FF2B5EF4-FFF2-40B4-BE49-F238E27FC236}">
                <a16:creationId xmlns:a16="http://schemas.microsoft.com/office/drawing/2014/main" id="{EB8B29C4-6C2E-4179-8C69-D6BEA95EF673}"/>
              </a:ext>
            </a:extLst>
          </p:cNvPr>
          <p:cNvSpPr>
            <a:spLocks noGrp="1"/>
          </p:cNvSpPr>
          <p:nvPr/>
        </p:nvSpPr>
        <p:spPr>
          <a:xfrm>
            <a:off x="6667500" y="521970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s14-node-5-title">
            <a:extLst>
              <a:ext uri="{FF2B5EF4-FFF2-40B4-BE49-F238E27FC236}">
                <a16:creationId xmlns:a16="http://schemas.microsoft.com/office/drawing/2014/main" id="{E664E317-97EC-461E-AC84-C44F2E1DA047}"/>
              </a:ext>
            </a:extLst>
          </p:cNvPr>
          <p:cNvSpPr>
            <a:spLocks noGrp="1"/>
          </p:cNvSpPr>
          <p:nvPr/>
        </p:nvSpPr>
        <p:spPr>
          <a:xfrm>
            <a:off x="6838950" y="538162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MONGODB</a:t>
            </a:r>
          </a:p>
        </p:txBody>
      </p:sp>
      <p:sp>
        <p:nvSpPr>
          <p:cNvPr id="28" name="s14-node-5-caption">
            <a:extLst>
              <a:ext uri="{FF2B5EF4-FFF2-40B4-BE49-F238E27FC236}">
                <a16:creationId xmlns:a16="http://schemas.microsoft.com/office/drawing/2014/main" id="{1D27C371-04D7-4098-A540-B0AA69C6DB41}"/>
              </a:ext>
            </a:extLst>
          </p:cNvPr>
          <p:cNvSpPr>
            <a:spLocks noGrp="1"/>
          </p:cNvSpPr>
          <p:nvPr/>
        </p:nvSpPr>
        <p:spPr>
          <a:xfrm>
            <a:off x="6838950" y="573405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official driver</a:t>
            </a:r>
          </a:p>
        </p:txBody>
      </p:sp>
      <p:cxnSp>
        <p:nvCxnSpPr>
          <p:cNvPr id="98" name="Straight Arrow Connector 63"/>
          <p:cNvCxnSpPr>
            <a:stCxn id="11" idx="3"/>
            <a:endCxn id="8" idx="1"/>
          </p:cNvCxnSpPr>
          <p:nvPr/>
        </p:nvCxnSpPr>
        <p:spPr>
          <a:xfrm>
            <a:off x="3257550" y="2400300"/>
            <a:ext cx="1524000" cy="1209675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cxnSp>
        <p:nvCxnSpPr>
          <p:cNvPr id="99" name="Straight Arrow Connector 64"/>
          <p:cNvCxnSpPr>
            <a:stCxn id="14" idx="3"/>
            <a:endCxn id="8" idx="1"/>
          </p:cNvCxnSpPr>
          <p:nvPr/>
        </p:nvCxnSpPr>
        <p:spPr>
          <a:xfrm flipV="1">
            <a:off x="3257550" y="3609975"/>
            <a:ext cx="1524000" cy="1343025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cxnSp>
        <p:nvCxnSpPr>
          <p:cNvPr id="100" name="Straight Arrow Connector 65"/>
          <p:cNvCxnSpPr>
            <a:stCxn id="8" idx="3"/>
            <a:endCxn id="17" idx="1"/>
          </p:cNvCxnSpPr>
          <p:nvPr/>
        </p:nvCxnSpPr>
        <p:spPr>
          <a:xfrm flipV="1">
            <a:off x="7410450" y="2400300"/>
            <a:ext cx="1543050" cy="1209675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cxnSp>
        <p:nvCxnSpPr>
          <p:cNvPr id="101" name="Straight Arrow Connector 66"/>
          <p:cNvCxnSpPr>
            <a:stCxn id="8" idx="3"/>
            <a:endCxn id="20" idx="1"/>
          </p:cNvCxnSpPr>
          <p:nvPr/>
        </p:nvCxnSpPr>
        <p:spPr>
          <a:xfrm>
            <a:off x="7410450" y="3609975"/>
            <a:ext cx="1543050" cy="1343025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cxnSp>
        <p:nvCxnSpPr>
          <p:cNvPr id="102" name="Straight Arrow Connector 67"/>
          <p:cNvCxnSpPr>
            <a:stCxn id="23" idx="0"/>
            <a:endCxn id="8" idx="2"/>
          </p:cNvCxnSpPr>
          <p:nvPr/>
        </p:nvCxnSpPr>
        <p:spPr>
          <a:xfrm flipV="1">
            <a:off x="4524375" y="4210050"/>
            <a:ext cx="1571625" cy="1009650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</a:ln>
        </p:spPr>
      </p:cxnSp>
      <p:cxnSp>
        <p:nvCxnSpPr>
          <p:cNvPr id="103" name="Straight Arrow Connector 68"/>
          <p:cNvCxnSpPr>
            <a:stCxn id="8" idx="2"/>
            <a:endCxn id="26" idx="0"/>
          </p:cNvCxnSpPr>
          <p:nvPr/>
        </p:nvCxnSpPr>
        <p:spPr>
          <a:xfrm>
            <a:off x="6096000" y="4210050"/>
            <a:ext cx="1762125" cy="1009650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sp>
        <p:nvSpPr>
          <p:cNvPr id="35" name="s14-bottom">
            <a:extLst>
              <a:ext uri="{FF2B5EF4-FFF2-40B4-BE49-F238E27FC236}">
                <a16:creationId xmlns:a16="http://schemas.microsoft.com/office/drawing/2014/main" id="{BC88FD91-D79C-425A-8BC0-7956286E85E9}"/>
              </a:ext>
            </a:extLst>
          </p:cNvPr>
          <p:cNvSpPr>
            <a:spLocks noGrp="1"/>
          </p:cNvSpPr>
          <p:nvPr/>
        </p:nvSpPr>
        <p:spPr>
          <a:xfrm>
            <a:off x="2857500" y="6143625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CFEDEA"/>
                </a:solidFill>
              </a:defRPr>
            </a:pPr>
            <a:r>
              <a:rPr sz="1125" b="1">
                <a:solidFill>
                  <a:srgbClr val="CFEDEA"/>
                </a:solidFill>
              </a:rPr>
              <a:t>One repository · one rendering policy · shared contracts · explicit boundaries</a:t>
            </a:r>
          </a:p>
        </p:txBody>
      </p:sp>
    </p:spTree>
    <p:extLst>
      <p:ext uri="{BB962C8B-B14F-4D97-AF65-F5344CB8AC3E}">
        <p14:creationId xmlns:p14="http://schemas.microsoft.com/office/powerpoint/2010/main" val="12324986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15-glow">
            <a:extLst>
              <a:ext uri="{FF2B5EF4-FFF2-40B4-BE49-F238E27FC236}">
                <a16:creationId xmlns:a16="http://schemas.microsoft.com/office/drawing/2014/main" id="{17356906-84C0-4064-9BC3-9E3AC87D2A0E}"/>
              </a:ext>
            </a:extLst>
          </p:cNvPr>
          <p:cNvSpPr>
            <a:spLocks noGrp="1"/>
          </p:cNvSpPr>
          <p:nvPr/>
        </p:nvSpPr>
        <p:spPr>
          <a:xfrm>
            <a:off x="6953250" y="381000"/>
            <a:ext cx="5238750" cy="5334000"/>
          </a:xfrm>
          <a:prstGeom prst="ellipse">
            <a:avLst/>
          </a:prstGeom>
          <a:solidFill>
            <a:srgbClr val="0D403D"/>
          </a:solidFill>
          <a:ln w="0">
            <a:noFill/>
            <a:prstDash val="solid"/>
          </a:ln>
        </p:spPr>
      </p:sp>
      <p:sp>
        <p:nvSpPr>
          <p:cNvPr id="2" name="s15-kicker">
            <a:extLst>
              <a:ext uri="{FF2B5EF4-FFF2-40B4-BE49-F238E27FC236}">
                <a16:creationId xmlns:a16="http://schemas.microsoft.com/office/drawing/2014/main" id="{E2F246B1-1DF9-48E1-8AB7-544988CC88D9}"/>
              </a:ext>
            </a:extLst>
          </p:cNvPr>
          <p:cNvSpPr>
            <a:spLocks noGrp="1"/>
          </p:cNvSpPr>
          <p:nvPr/>
        </p:nvSpPr>
        <p:spPr>
          <a:xfrm>
            <a:off x="704850" y="6096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1FC7B9"/>
                </a:solidFill>
              </a:defRPr>
            </a:pPr>
            <a:r>
              <a:rPr sz="975" b="1">
                <a:solidFill>
                  <a:srgbClr val="1FC7B9"/>
                </a:solidFill>
              </a:rPr>
              <a:t>THE TRANSFERABLE LESSON</a:t>
            </a:r>
          </a:p>
        </p:txBody>
      </p:sp>
      <p:sp>
        <p:nvSpPr>
          <p:cNvPr id="3" name="s15-title">
            <a:extLst>
              <a:ext uri="{FF2B5EF4-FFF2-40B4-BE49-F238E27FC236}">
                <a16:creationId xmlns:a16="http://schemas.microsoft.com/office/drawing/2014/main" id="{3879F0C7-7CE9-425E-8E06-9B7DBAFEF552}"/>
              </a:ext>
            </a:extLst>
          </p:cNvPr>
          <p:cNvSpPr>
            <a:spLocks noGrp="1"/>
          </p:cNvSpPr>
          <p:nvPr/>
        </p:nvSpPr>
        <p:spPr>
          <a:xfrm>
            <a:off x="704850" y="1200150"/>
            <a:ext cx="6286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Reason about</a:t>
            </a:r>
          </a:p>
          <a:p>
            <a:pPr algn="l">
              <a:buNone/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boundaries</a:t>
            </a:r>
          </a:p>
        </p:txBody>
      </p:sp>
      <p:sp>
        <p:nvSpPr>
          <p:cNvPr id="4" name="s15-copy">
            <a:extLst>
              <a:ext uri="{FF2B5EF4-FFF2-40B4-BE49-F238E27FC236}">
                <a16:creationId xmlns:a16="http://schemas.microsoft.com/office/drawing/2014/main" id="{697AAED0-5034-426E-8927-B33D2FBE9EC5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5905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CFEDEA"/>
                </a:solidFill>
              </a:defRPr>
            </a:pPr>
            <a:r>
              <a:rPr sz="1725" b="0">
                <a:solidFill>
                  <a:srgbClr val="CFEDEA"/>
                </a:solidFill>
              </a:rPr>
              <a:t>Framework knowledge becomes useful when it changes where code runs, who owns data, and how a user action returns as a trustworthy result.</a:t>
            </a:r>
          </a:p>
        </p:txBody>
      </p:sp>
      <p:sp>
        <p:nvSpPr>
          <p:cNvPr id="5" name="s15-word-0">
            <a:extLst>
              <a:ext uri="{FF2B5EF4-FFF2-40B4-BE49-F238E27FC236}">
                <a16:creationId xmlns:a16="http://schemas.microsoft.com/office/drawing/2014/main" id="{09C6C5B6-FA75-45CD-9909-59D83AD30BBA}"/>
              </a:ext>
            </a:extLst>
          </p:cNvPr>
          <p:cNvSpPr>
            <a:spLocks noGrp="1"/>
          </p:cNvSpPr>
          <p:nvPr/>
        </p:nvSpPr>
        <p:spPr>
          <a:xfrm>
            <a:off x="742950" y="50101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RENDER</a:t>
            </a:r>
          </a:p>
        </p:txBody>
      </p:sp>
      <p:sp>
        <p:nvSpPr>
          <p:cNvPr id="6" name="s15-word-rule-0">
            <a:extLst>
              <a:ext uri="{FF2B5EF4-FFF2-40B4-BE49-F238E27FC236}">
                <a16:creationId xmlns:a16="http://schemas.microsoft.com/office/drawing/2014/main" id="{07BD23D9-0F4F-4EEA-A75A-BC41E4FA3C57}"/>
              </a:ext>
            </a:extLst>
          </p:cNvPr>
          <p:cNvSpPr>
            <a:spLocks noGrp="1"/>
          </p:cNvSpPr>
          <p:nvPr/>
        </p:nvSpPr>
        <p:spPr>
          <a:xfrm>
            <a:off x="914400" y="5410200"/>
            <a:ext cx="1276350" cy="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7" name="s15-word-1">
            <a:extLst>
              <a:ext uri="{FF2B5EF4-FFF2-40B4-BE49-F238E27FC236}">
                <a16:creationId xmlns:a16="http://schemas.microsoft.com/office/drawing/2014/main" id="{D9A48E82-205D-4712-8DEA-F552F95B803C}"/>
              </a:ext>
            </a:extLst>
          </p:cNvPr>
          <p:cNvSpPr>
            <a:spLocks noGrp="1"/>
          </p:cNvSpPr>
          <p:nvPr/>
        </p:nvSpPr>
        <p:spPr>
          <a:xfrm>
            <a:off x="2667000" y="50101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VALIDATE</a:t>
            </a:r>
          </a:p>
        </p:txBody>
      </p:sp>
      <p:sp>
        <p:nvSpPr>
          <p:cNvPr id="8" name="s15-word-rule-1">
            <a:extLst>
              <a:ext uri="{FF2B5EF4-FFF2-40B4-BE49-F238E27FC236}">
                <a16:creationId xmlns:a16="http://schemas.microsoft.com/office/drawing/2014/main" id="{161C5E89-B4E4-45CC-9894-A487A70C795D}"/>
              </a:ext>
            </a:extLst>
          </p:cNvPr>
          <p:cNvSpPr>
            <a:spLocks noGrp="1"/>
          </p:cNvSpPr>
          <p:nvPr/>
        </p:nvSpPr>
        <p:spPr>
          <a:xfrm>
            <a:off x="2838450" y="5410200"/>
            <a:ext cx="1276350" cy="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9" name="s15-word-2">
            <a:extLst>
              <a:ext uri="{FF2B5EF4-FFF2-40B4-BE49-F238E27FC236}">
                <a16:creationId xmlns:a16="http://schemas.microsoft.com/office/drawing/2014/main" id="{7AE64426-8779-403C-8FFB-6F1BF08306C3}"/>
              </a:ext>
            </a:extLst>
          </p:cNvPr>
          <p:cNvSpPr>
            <a:spLocks noGrp="1"/>
          </p:cNvSpPr>
          <p:nvPr/>
        </p:nvSpPr>
        <p:spPr>
          <a:xfrm>
            <a:off x="4591050" y="50101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CONNECT</a:t>
            </a:r>
          </a:p>
        </p:txBody>
      </p:sp>
      <p:sp>
        <p:nvSpPr>
          <p:cNvPr id="10" name="s15-word-rule-2">
            <a:extLst>
              <a:ext uri="{FF2B5EF4-FFF2-40B4-BE49-F238E27FC236}">
                <a16:creationId xmlns:a16="http://schemas.microsoft.com/office/drawing/2014/main" id="{A606229E-8692-44CF-B107-487A724367A0}"/>
              </a:ext>
            </a:extLst>
          </p:cNvPr>
          <p:cNvSpPr>
            <a:spLocks noGrp="1"/>
          </p:cNvSpPr>
          <p:nvPr/>
        </p:nvSpPr>
        <p:spPr>
          <a:xfrm>
            <a:off x="4762500" y="5410200"/>
            <a:ext cx="1276350" cy="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11" name="s15-word-3">
            <a:extLst>
              <a:ext uri="{FF2B5EF4-FFF2-40B4-BE49-F238E27FC236}">
                <a16:creationId xmlns:a16="http://schemas.microsoft.com/office/drawing/2014/main" id="{01E8E368-8D17-4989-9287-DDE8BC59EB28}"/>
              </a:ext>
            </a:extLst>
          </p:cNvPr>
          <p:cNvSpPr>
            <a:spLocks noGrp="1"/>
          </p:cNvSpPr>
          <p:nvPr/>
        </p:nvSpPr>
        <p:spPr>
          <a:xfrm>
            <a:off x="6515100" y="50101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EXPLAIN</a:t>
            </a:r>
          </a:p>
        </p:txBody>
      </p:sp>
      <p:sp>
        <p:nvSpPr>
          <p:cNvPr id="12" name="s15-word-rule-3">
            <a:extLst>
              <a:ext uri="{FF2B5EF4-FFF2-40B4-BE49-F238E27FC236}">
                <a16:creationId xmlns:a16="http://schemas.microsoft.com/office/drawing/2014/main" id="{F047C742-FCEE-4EA9-AFE7-E6622801A56E}"/>
              </a:ext>
            </a:extLst>
          </p:cNvPr>
          <p:cNvSpPr>
            <a:spLocks noGrp="1"/>
          </p:cNvSpPr>
          <p:nvPr/>
        </p:nvSpPr>
        <p:spPr>
          <a:xfrm>
            <a:off x="6686550" y="5410200"/>
            <a:ext cx="127635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3" name="s15-end">
            <a:extLst>
              <a:ext uri="{FF2B5EF4-FFF2-40B4-BE49-F238E27FC236}">
                <a16:creationId xmlns:a16="http://schemas.microsoft.com/office/drawing/2014/main" id="{B58276E7-24A3-4BF2-B42B-D30CA20C2EA6}"/>
              </a:ext>
            </a:extLst>
          </p:cNvPr>
          <p:cNvSpPr>
            <a:spLocks noGrp="1"/>
          </p:cNvSpPr>
          <p:nvPr/>
        </p:nvSpPr>
        <p:spPr>
          <a:xfrm>
            <a:off x="7543800" y="2705100"/>
            <a:ext cx="36385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That is what Nuxt changed for us.</a:t>
            </a:r>
          </a:p>
        </p:txBody>
      </p:sp>
      <p:sp>
        <p:nvSpPr>
          <p:cNvPr id="14" name="s15-phase">
            <a:extLst>
              <a:ext uri="{FF2B5EF4-FFF2-40B4-BE49-F238E27FC236}">
                <a16:creationId xmlns:a16="http://schemas.microsoft.com/office/drawing/2014/main" id="{21730A32-6747-4543-A998-27695D2C3B4C}"/>
              </a:ext>
            </a:extLst>
          </p:cNvPr>
          <p:cNvSpPr>
            <a:spLocks noGrp="1"/>
          </p:cNvSpPr>
          <p:nvPr/>
        </p:nvSpPr>
        <p:spPr>
          <a:xfrm>
            <a:off x="7372350" y="4095750"/>
            <a:ext cx="398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CFEDEA"/>
                </a:solidFill>
              </a:defRPr>
            </a:pPr>
            <a:r>
              <a:rPr sz="1275" b="0">
                <a:solidFill>
                  <a:srgbClr val="CFEDEA"/>
                </a:solidFill>
              </a:rPr>
              <a:t>Phase 2: forecast · versions · outcomes · anonymous benchmarks</a:t>
            </a:r>
          </a:p>
        </p:txBody>
      </p:sp>
      <p:sp>
        <p:nvSpPr>
          <p:cNvPr id="15" name="footer-rule-15">
            <a:extLst>
              <a:ext uri="{FF2B5EF4-FFF2-40B4-BE49-F238E27FC236}">
                <a16:creationId xmlns:a16="http://schemas.microsoft.com/office/drawing/2014/main" id="{D762AEC0-F0D1-4D20-A082-A48A6120689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16" name="footer-presenter-15">
            <a:extLst>
              <a:ext uri="{FF2B5EF4-FFF2-40B4-BE49-F238E27FC236}">
                <a16:creationId xmlns:a16="http://schemas.microsoft.com/office/drawing/2014/main" id="{33C9132D-D6D4-418E-922D-EAC4297F47C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Mohammad</a:t>
            </a:r>
          </a:p>
        </p:txBody>
      </p:sp>
      <p:sp>
        <p:nvSpPr>
          <p:cNvPr id="17" name="footer-source-15">
            <a:extLst>
              <a:ext uri="{FF2B5EF4-FFF2-40B4-BE49-F238E27FC236}">
                <a16:creationId xmlns:a16="http://schemas.microsoft.com/office/drawing/2014/main" id="{7F7C579D-FEDD-43D3-9BED-9F8B9E5FDB13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18" name="footer-number-15">
            <a:extLst>
              <a:ext uri="{FF2B5EF4-FFF2-40B4-BE49-F238E27FC236}">
                <a16:creationId xmlns:a16="http://schemas.microsoft.com/office/drawing/2014/main" id="{87A2C286-BF23-45BE-BD66-8F77F1CDDA7A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422619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2832</Words>
  <Application>Microsoft Office PowerPoint</Application>
  <DocSecurity>0</DocSecurity>
  <PresentationFormat>Widescreen</PresentationFormat>
  <Paragraphs>410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Malik Halimeh</cp:lastModifiedBy>
  <cp:revision>2</cp:revision>
  <dcterms:created xsi:type="dcterms:W3CDTF">2026-08-09T14:41:50Z</dcterms:created>
  <dcterms:modified xsi:type="dcterms:W3CDTF">2026-08-09T14:49:58Z</dcterms:modified>
</cp:coreProperties>
</file>